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c3a46537d449a0" /><Relationship Type="http://schemas.openxmlformats.org/officeDocument/2006/relationships/extended-properties" Target="/docProps/app.xml" Id="Rf2c3736755374745" /><Relationship Type="http://schemas.openxmlformats.org/officeDocument/2006/relationships/officeDocument" Target="/ppt/presentation.xml" Id="Rcb5309c0aedd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3e171021f4afe"/>
  </p:sldMasterIdLst>
  <p:notesMasterIdLst>
    <p:notesMasterId xmlns:r="http://schemas.openxmlformats.org/officeDocument/2006/relationships" r:id="R281127809fac4667"/>
  </p:notesMasterIdLst>
  <p:sldIdLst>
    <p:sldId xmlns:r="http://schemas.openxmlformats.org/officeDocument/2006/relationships" id="256" r:id="Re35b53bf8d8241aa"/>
    <p:sldId xmlns:r="http://schemas.openxmlformats.org/officeDocument/2006/relationships" id="257" r:id="R27d8c52cf7b14159"/>
    <p:sldId xmlns:r="http://schemas.openxmlformats.org/officeDocument/2006/relationships" id="258" r:id="R5f50f0f9f0d543c5"/>
    <p:sldId xmlns:r="http://schemas.openxmlformats.org/officeDocument/2006/relationships" id="259" r:id="R11eafa2f19ee4ba4"/>
    <p:sldId xmlns:r="http://schemas.openxmlformats.org/officeDocument/2006/relationships" id="260" r:id="R94a3b886ef24462c"/>
    <p:sldId xmlns:r="http://schemas.openxmlformats.org/officeDocument/2006/relationships" id="261" r:id="R3d800b5af3e44674"/>
    <p:sldId xmlns:r="http://schemas.openxmlformats.org/officeDocument/2006/relationships" id="262" r:id="R9f5721398cf74d64"/>
    <p:sldId xmlns:r="http://schemas.openxmlformats.org/officeDocument/2006/relationships" id="263" r:id="R5ed9b89318f34a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6070714ab4475" /><Relationship Type="http://schemas.openxmlformats.org/officeDocument/2006/relationships/slideMaster" Target="/ppt/slideMasters/slideMaster1.xml" Id="Rc2b3e171021f4afe" /><Relationship Type="http://schemas.openxmlformats.org/officeDocument/2006/relationships/notesMaster" Target="/ppt/notesMasters/notesMaster1.xml" Id="R281127809fac4667" /><Relationship Type="http://schemas.openxmlformats.org/officeDocument/2006/relationships/presProps" Target="/ppt/presProps.xml" Id="Rd47c95235db54c00" /><Relationship Type="http://schemas.openxmlformats.org/officeDocument/2006/relationships/tableStyles" Target="/ppt/tableStyles.xml" Id="Rf117b55b0dbf4960" /><Relationship Type="http://schemas.openxmlformats.org/officeDocument/2006/relationships/slide" Target="/ppt/slides/slide1.xml" Id="Re35b53bf8d8241aa" /><Relationship Type="http://schemas.openxmlformats.org/officeDocument/2006/relationships/slide" Target="/ppt/slides/slide2.xml" Id="R27d8c52cf7b14159" /><Relationship Type="http://schemas.openxmlformats.org/officeDocument/2006/relationships/slide" Target="/ppt/slides/slide3.xml" Id="R5f50f0f9f0d543c5" /><Relationship Type="http://schemas.openxmlformats.org/officeDocument/2006/relationships/slide" Target="/ppt/slides/slide4.xml" Id="R11eafa2f19ee4ba4" /><Relationship Type="http://schemas.openxmlformats.org/officeDocument/2006/relationships/slide" Target="/ppt/slides/slide5.xml" Id="R94a3b886ef24462c" /><Relationship Type="http://schemas.openxmlformats.org/officeDocument/2006/relationships/slide" Target="/ppt/slides/slide6.xml" Id="R3d800b5af3e44674" /><Relationship Type="http://schemas.openxmlformats.org/officeDocument/2006/relationships/slide" Target="/ppt/slides/slide7.xml" Id="R9f5721398cf74d64" /><Relationship Type="http://schemas.openxmlformats.org/officeDocument/2006/relationships/slide" Target="/ppt/slides/slide8.xml" Id="R5ed9b89318f3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90501732e4d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19271716b4e9e" /><Relationship Type="http://schemas.openxmlformats.org/officeDocument/2006/relationships/notesMaster" Target="/ppt/notesMasters/notesMaster1.xml" Id="Rf82d55333cc8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a9ce3dd93495f" /><Relationship Type="http://schemas.openxmlformats.org/officeDocument/2006/relationships/notesMaster" Target="/ppt/notesMasters/notesMaster1.xml" Id="R81f0e174c5f0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688e4a1e241f2" /><Relationship Type="http://schemas.openxmlformats.org/officeDocument/2006/relationships/notesMaster" Target="/ppt/notesMasters/notesMaster1.xml" Id="R6fbd1d177667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3efc4e4fc14ddb" /><Relationship Type="http://schemas.openxmlformats.org/officeDocument/2006/relationships/notesMaster" Target="/ppt/notesMasters/notesMaster1.xml" Id="Rc5e2df5d51ff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9c295884a48cf" /><Relationship Type="http://schemas.openxmlformats.org/officeDocument/2006/relationships/notesMaster" Target="/ppt/notesMasters/notesMaster1.xml" Id="Red4102d5526d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aefa0f702f4e8d" /><Relationship Type="http://schemas.openxmlformats.org/officeDocument/2006/relationships/notesMaster" Target="/ppt/notesMasters/notesMaster1.xml" Id="R4a171981b29840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12bba00d5c438c" /><Relationship Type="http://schemas.openxmlformats.org/officeDocument/2006/relationships/notesMaster" Target="/ppt/notesMasters/notesMaster1.xml" Id="R96926bfce08e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bbe6dab1424d9c" /><Relationship Type="http://schemas.openxmlformats.org/officeDocument/2006/relationships/notesMaster" Target="/ppt/notesMasters/notesMaster1.xml" Id="R9703cee974c54a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README.md; ใบงาน CP353002 ที่ผู้ใช้แนบ; source code ใน repository.</a:t>
            </a:r>
          </a:p>
          <a:p xmlns:a="http://schemas.openxmlformats.org/drawingml/2006/main">
            <a:r>
              <a:t>ผลตรวจในสไลด์เป็น snapshot ของ branch ที่เปิดในเครื่อง ไม่ใช่การรับรอง production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README.md; doc/diagrams/12-component-diagram.puml; doc/api-spec.md.</a:t>
            </a:r>
          </a:p>
          <a:p xmlns:a="http://schemas.openxmlformats.org/drawingml/2006/main">
            <a:r>
              <a:t>โครงสร้างสื่อสารผ่าน service layer ตามแนว layered architecture ที่กำหนดใน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 รหัส และ branch มาจากข้อมูลสมาชิกที่ผู้ใช้ยืนยัน และถูกเพิ่มใน README.md.</a:t>
            </a:r>
          </a:p>
          <a:p xmlns:a="http://schemas.openxmlformats.org/drawingml/2006/main">
            <a:r>
              <a:t>ให้แต่ละคนใช้บัญชีและ branch ของตนเองตามกติกาวิชา.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doc/data-dictionary.md; doc/diagrams/11-er-diagram.puml; code/backend/src/main/resources/db/migration/V1–V9.</a:t>
            </a:r>
          </a:p>
          <a:p xmlns:a="http://schemas.openxmlformats.org/drawingml/2006/main">
            <a:r>
              <a:t>V8/V9 ไม่ได้ถูกนำไปรันบน Neon โดยการตรวจครั้งนี้. V6 ไม่มีไฟล์และไม่ควรสร้างย้อนหลัง.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doc/design-patterns.md; doc/diagrams/04-class-diagram.puml; code/backend/src/main/java/com/libraflow/library/service/strategy/.</a:t>
            </a:r>
          </a:p>
          <a:p xmlns:a="http://schemas.openxmlformats.org/drawingml/2006/main">
            <a:r>
              <a:t>อัตราค่าปรับที่แสดงคือ Student 3, Staff 5 capped at 300, External 10 บาทต่อวัน.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doc/project-overview.md (BR-05–BR-10); LoanServiceImpl; LoanScheduler; FineServiceImpl; ReservationNotificationListener; ReservationScheduler.</a:t>
            </a:r>
          </a:p>
          <a:p xmlns:a="http://schemas.openxmlformats.org/drawingml/2006/main">
            <a:r>
              <a:t>การส่ง SMS/email ยังไม่เชื่อม; ตอนนี้ listener บันทึก log หลังกันตัวเล่มและเปลี่ยนคิวเป็น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 local: .\mvnw.cmd -Dtest="*Test,!AuthSecurityIntegrationTest" test — 133 passed, 0 failures, 0 errors.</a:t>
            </a:r>
          </a:p>
          <a:p xmlns:a="http://schemas.openxmlformats.org/drawingml/2006/main">
            <a:r>
              <a:t>Frontend: npm run lint, npm run build, npm audit --audit-level=high — pass, build สำเร็จ, 0 vulnerabilities.</a:t>
            </a:r>
          </a:p>
          <a:p xmlns:a="http://schemas.openxmlformats.org/drawingml/2006/main">
            <a:r>
              <a:t>HTTP GET วันที่ 8 ต.ค. 2569: Vercel root, Render Swagger UI, Render /v3/api-docs และ Render /api/v1/books ตอบ 200.</a:t>
            </a:r>
          </a:p>
          <a:p xmlns:a="http://schemas.openxmlformats.org/drawingml/2006/main">
            <a:r>
              <a:t>Full verify รวม 1 integration test ที่ต้องใช้ Docker Engine; V8/V9 ยังไม่ได้ apply กับ Neon.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user-provided Neon screenshot; README.md; doc/security-ci-deployment.md; doc/diagrams/13-deployment-diagram.puml.</a:t>
            </a:r>
          </a:p>
          <a:p xmlns:a="http://schemas.openxmlformats.org/drawingml/2006/main">
            <a:r>
              <a:t>แนวทาง branch: personal branch → PR develop → CI/review → PR main for release. Render production branch remains unverified until checked in the authenticated dashboard.</a:t>
            </a:r>
          </a:p>
          <a:p xmlns:a="http://schemas.openxmlformats.org/drawingml/2006/main">
            <a:r>
              <a:t>การตรวจครั้งนี้ไม่ login เข้า provider และไม่อ่าน/เปลี่ยน secret, database หรือ deployment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61f33210548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312c9b6b940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6193d2f7a47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61f25fda042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e1b71af4a47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09860a11146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F939E6-C728-481F-A254-8A7EFA074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917338-B9FA-4676-B09F-511FB087DD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DBD4BA-F06B-4B4A-9544-F8E31F308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C1F244-967D-45DC-86E6-FE1B6E5F2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6C9DA2-FB24-447E-901A-41ABD9EE4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A9C535-3121-4E57-8ABB-7A33B5721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662FB1-0232-449F-817C-E2D2D92F3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A5E720-4320-4E43-B88D-923C3A1757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770595-64B0-4517-95ED-1129C3B36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ED1138-FCF6-4937-B566-DBAFF62E51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9a3860eb04451" /><Relationship Type="http://schemas.openxmlformats.org/officeDocument/2006/relationships/slideLayout" Target="/ppt/slideLayouts/slideLayout1.xml" Id="R2b9ff22117c448bf" /><Relationship Type="http://schemas.openxmlformats.org/officeDocument/2006/relationships/slideLayout" Target="/ppt/slideLayouts/slideLayout2.xml" Id="R7d719377e1474799" /><Relationship Type="http://schemas.openxmlformats.org/officeDocument/2006/relationships/slideLayout" Target="/ppt/slideLayouts/slideLayout3.xml" Id="Rfbc9d5883546456e" /><Relationship Type="http://schemas.openxmlformats.org/officeDocument/2006/relationships/slideLayout" Target="/ppt/slideLayouts/slideLayout4.xml" Id="R4b5763faf2c64d95" /><Relationship Type="http://schemas.openxmlformats.org/officeDocument/2006/relationships/slideLayout" Target="/ppt/slideLayouts/slideLayout5.xml" Id="Rb921b3e911684243" /><Relationship Type="http://schemas.openxmlformats.org/officeDocument/2006/relationships/slideLayout" Target="/ppt/slideLayouts/slideLayout6.xml" Id="Rda055501799a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ff22117c448bf"/>
    <p:sldLayoutId xmlns:r="http://schemas.openxmlformats.org/officeDocument/2006/relationships" id="2147483650" r:id="R7d719377e1474799"/>
    <p:sldLayoutId xmlns:r="http://schemas.openxmlformats.org/officeDocument/2006/relationships" id="2147483651" r:id="Rfbc9d5883546456e"/>
    <p:sldLayoutId xmlns:r="http://schemas.openxmlformats.org/officeDocument/2006/relationships" id="2147483652" r:id="R4b5763faf2c64d95"/>
    <p:sldLayoutId xmlns:r="http://schemas.openxmlformats.org/officeDocument/2006/relationships" id="2147483653" r:id="Rb921b3e911684243"/>
    <p:sldLayoutId xmlns:r="http://schemas.openxmlformats.org/officeDocument/2006/relationships" id="2147483654" r:id="Rda055501799a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d038ec4a149ec" /><Relationship Type="http://schemas.openxmlformats.org/officeDocument/2006/relationships/notesSlide" Target="/ppt/notesSlides/notesSlide1.xml" Id="Re4b541f3581b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4fe7847864710" /><Relationship Type="http://schemas.openxmlformats.org/officeDocument/2006/relationships/notesSlide" Target="/ppt/notesSlides/notesSlide2.xml" Id="Rdb436acbdabc42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38bb6613c4961" /><Relationship Type="http://schemas.openxmlformats.org/officeDocument/2006/relationships/notesSlide" Target="/ppt/notesSlides/notesSlide3.xml" Id="Rde4aa8c9e469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e619354ef4044" /><Relationship Type="http://schemas.openxmlformats.org/officeDocument/2006/relationships/notesSlide" Target="/ppt/notesSlides/notesSlide4.xml" Id="R02c54e9a5ac9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ea75cf08941a0" /><Relationship Type="http://schemas.openxmlformats.org/officeDocument/2006/relationships/notesSlide" Target="/ppt/notesSlides/notesSlide5.xml" Id="R608aa6c9e4e0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4f13bbede42e0" /><Relationship Type="http://schemas.openxmlformats.org/officeDocument/2006/relationships/notesSlide" Target="/ppt/notesSlides/notesSlide6.xml" Id="R428acb00e70544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2b1b4707344ba" /><Relationship Type="http://schemas.openxmlformats.org/officeDocument/2006/relationships/notesSlide" Target="/ppt/notesSlides/notesSlide7.xml" Id="Rff67d47caaef46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093acebba4a74" /><Relationship Type="http://schemas.openxmlformats.org/officeDocument/2006/relationships/notesSlide" Target="/ppt/notesSlides/notesSlide8.xml" Id="R2d61f482db924e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E729C69-B3B8-497C-8C05-34860DD3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orbit-large">
            <a:extLst xmlns:a="http://schemas.openxmlformats.org/drawingml/2006/main">
              <a:ext uri="{FF2B5EF4-FFF2-40B4-BE49-F238E27FC236}">
                <a16:creationId xmlns:a16="http://schemas.microsoft.com/office/drawing/2014/main" id="{E2DE6678-F478-4803-9A9F-BAE24560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8575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orbit-small">
            <a:extLst xmlns:a="http://schemas.openxmlformats.org/drawingml/2006/main">
              <a:ext uri="{FF2B5EF4-FFF2-40B4-BE49-F238E27FC236}">
                <a16:creationId xmlns:a16="http://schemas.microsoft.com/office/drawing/2014/main" id="{5787D21F-7092-472E-8AD0-E8343F6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257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mark-1">
            <a:extLst xmlns:a="http://schemas.openxmlformats.org/drawingml/2006/main">
              <a:ext uri="{FF2B5EF4-FFF2-40B4-BE49-F238E27FC236}">
                <a16:creationId xmlns:a16="http://schemas.microsoft.com/office/drawing/2014/main" id="{C121200C-D1AB-4EFE-B169-3308852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100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ark-2">
            <a:extLst xmlns:a="http://schemas.openxmlformats.org/drawingml/2006/main">
              <a:ext uri="{FF2B5EF4-FFF2-40B4-BE49-F238E27FC236}">
                <a16:creationId xmlns:a16="http://schemas.microsoft.com/office/drawing/2014/main" id="{C29A8B84-495B-4585-B073-53D02094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91050"/>
            <a:ext cx="1533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ark-3">
            <a:extLst xmlns:a="http://schemas.openxmlformats.org/drawingml/2006/main">
              <a:ext uri="{FF2B5EF4-FFF2-40B4-BE49-F238E27FC236}">
                <a16:creationId xmlns:a16="http://schemas.microsoft.com/office/drawing/2014/main" id="{5A31C8C4-2353-4572-BE2C-3F3F0B0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72050"/>
            <a:ext cx="1133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9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76E03D-ACCC-4A55-ACFA-F4CE892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8D9D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D9D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B8D9D8"/>
                </a:solidFill>
                <a:latin typeface="Tahoma"/>
                <a:ea typeface="Tahoma"/>
                <a:cs typeface="Tahoma"/>
              </a:rPr>
              <a:t>CP353002  |  PRINCIPLES OF SOFTWARE DESIGN AND DEVELOPMENT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96FA6F-9BEB-4594-B5A9-40E9FF34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LibraFlow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04621D-A817-43E0-BE3B-034CE24D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ระบบจัดการหนังสือในห้องสมุด</a:t>
            </a:r>
          </a:p>
        </p:txBody>
      </p:sp>
      <p:sp>
        <p:nvSpPr>
          <p:cNvPr id="10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C5671DC1-DDF3-4628-87EE-72BD149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10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2E1E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2E1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D2E1E8"/>
                </a:solidFill>
                <a:latin typeface="Tahoma"/>
                <a:ea typeface="Tahoma"/>
                <a:cs typeface="Tahoma"/>
              </a:rPr>
              <a:t>Spring Boot  •  React  •  PostgreSQL  •  REST API</a:t>
            </a:r>
          </a:p>
        </p:txBody>
      </p:sp>
      <p:sp>
        <p:nvSpPr>
          <p:cNvPr id="11" name="cover-date">
            <a:extLst xmlns:a="http://schemas.openxmlformats.org/drawingml/2006/main">
              <a:ext uri="{FF2B5EF4-FFF2-40B4-BE49-F238E27FC236}">
                <a16:creationId xmlns:a16="http://schemas.microsoft.com/office/drawing/2014/main" id="{6A742051-7653-4097-B4B4-1DF3CE9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149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8C8D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B8C8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8C8D0"/>
                </a:solidFill>
                <a:latin typeface="Tahoma"/>
                <a:ea typeface="Tahoma"/>
                <a:cs typeface="Tahoma"/>
              </a:rPr>
              <a:t>ทบทวนระบบและผลตรวจ ณ 8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462405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3DA1E77F-5E08-4E18-A9C3-7B197B6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A429848-D931-48A7-9B69-B93FF93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ขอบเขตระบบและสถาปัตยกรรม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0ABBE649-D5FC-4D64-8B9D-D85F1326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7EFCF599-3929-4B8B-AAEF-9568425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FA1FFFC3-D7E0-4CA6-9B6E-5CE7559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02 / 08</a:t>
            </a:r>
          </a:p>
        </p:txBody>
      </p:sp>
      <p:sp>
        <p:nvSpPr>
          <p:cNvPr id="6" name="architecture-layer-0">
            <a:extLst xmlns:a="http://schemas.openxmlformats.org/drawingml/2006/main">
              <a:ext uri="{FF2B5EF4-FFF2-40B4-BE49-F238E27FC236}">
                <a16:creationId xmlns:a16="http://schemas.microsoft.com/office/drawing/2014/main" id="{950DE42E-62B4-498E-A077-890ED16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581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7" name="architecture-head-0">
            <a:extLst xmlns:a="http://schemas.openxmlformats.org/drawingml/2006/main">
              <a:ext uri="{FF2B5EF4-FFF2-40B4-BE49-F238E27FC236}">
                <a16:creationId xmlns:a16="http://schemas.microsoft.com/office/drawing/2014/main" id="{042D3109-87B2-425C-B6AD-F152D96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33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React SPA</a:t>
            </a:r>
          </a:p>
        </p:txBody>
      </p:sp>
      <p:sp>
        <p:nvSpPr>
          <p:cNvPr id="8" name="architecture-sub-0">
            <a:extLst xmlns:a="http://schemas.openxmlformats.org/drawingml/2006/main">
              <a:ext uri="{FF2B5EF4-FFF2-40B4-BE49-F238E27FC236}">
                <a16:creationId xmlns:a16="http://schemas.microsoft.com/office/drawing/2014/main" id="{B60BCB2B-C104-40D0-87D4-6615611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หน้ารายการหนังสือ • สมาชิก • งานบรรณารักษ์</a:t>
            </a:r>
          </a:p>
        </p:txBody>
      </p:sp>
      <p:sp>
        <p:nvSpPr>
          <p:cNvPr id="9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2F61FA06-4ED9-467F-923F-CE0EAC94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62175"/>
            <a:ext cx="38100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0" name="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2B739498-01E6-4AC1-912D-DCA1DFB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581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1" name="architecture-head-1">
            <a:extLst xmlns:a="http://schemas.openxmlformats.org/drawingml/2006/main">
              <a:ext uri="{FF2B5EF4-FFF2-40B4-BE49-F238E27FC236}">
                <a16:creationId xmlns:a16="http://schemas.microsoft.com/office/drawing/2014/main" id="{0B647571-F03B-4553-85CD-93632F4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REST API + JWT</a:t>
            </a:r>
          </a:p>
        </p:txBody>
      </p:sp>
      <p:sp>
        <p:nvSpPr>
          <p:cNvPr id="12" name="architecture-sub-1">
            <a:extLst xmlns:a="http://schemas.openxmlformats.org/drawingml/2006/main">
              <a:ext uri="{FF2B5EF4-FFF2-40B4-BE49-F238E27FC236}">
                <a16:creationId xmlns:a16="http://schemas.microsoft.com/office/drawing/2014/main" id="{AB976222-6FC2-4F56-9260-0CEF1E5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Spring Security • Swagger / OpenAPI</a:t>
            </a:r>
          </a:p>
        </p:txBody>
      </p:sp>
      <p:sp>
        <p:nvSpPr>
          <p:cNvPr id="13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060EB14C-3D40-4D10-B8BD-E996EDF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28950"/>
            <a:ext cx="38100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4" name="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D28745B5-A977-4DF2-A0D1-0B49D359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81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5" name="architecture-head-2">
            <a:extLst xmlns:a="http://schemas.openxmlformats.org/drawingml/2006/main">
              <a:ext uri="{FF2B5EF4-FFF2-40B4-BE49-F238E27FC236}">
                <a16:creationId xmlns:a16="http://schemas.microsoft.com/office/drawing/2014/main" id="{15A02E58-8637-43F7-A996-A16ECF7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67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Controller → Service</a:t>
            </a:r>
          </a:p>
        </p:txBody>
      </p:sp>
      <p:sp>
        <p:nvSpPr>
          <p:cNvPr id="16" name="architecture-sub-2">
            <a:extLst xmlns:a="http://schemas.openxmlformats.org/drawingml/2006/main">
              <a:ext uri="{FF2B5EF4-FFF2-40B4-BE49-F238E27FC236}">
                <a16:creationId xmlns:a16="http://schemas.microsoft.com/office/drawing/2014/main" id="{AAF9518B-C0B0-4652-B6E0-EDF1E9C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กฎยืม-คืน • ค่าปรับ • การจอง • รายงาน</a:t>
            </a:r>
          </a:p>
        </p:txBody>
      </p:sp>
      <p:sp>
        <p:nvSpPr>
          <p:cNvPr id="17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ABDE0DB7-598C-4916-ACF3-D46A622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95725"/>
            <a:ext cx="38100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8" name="architecture-layer-3">
            <a:extLst xmlns:a="http://schemas.openxmlformats.org/drawingml/2006/main">
              <a:ext uri="{FF2B5EF4-FFF2-40B4-BE49-F238E27FC236}">
                <a16:creationId xmlns:a16="http://schemas.microsoft.com/office/drawing/2014/main" id="{EF6E2DA8-6060-4604-B93E-078239A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581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9" name="architecture-head-3">
            <a:extLst xmlns:a="http://schemas.openxmlformats.org/drawingml/2006/main">
              <a:ext uri="{FF2B5EF4-FFF2-40B4-BE49-F238E27FC236}">
                <a16:creationId xmlns:a16="http://schemas.microsoft.com/office/drawing/2014/main" id="{675FE526-D134-4688-A2E9-248EDDE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Repository / JPA</a:t>
            </a:r>
          </a:p>
        </p:txBody>
      </p:sp>
      <p:sp>
        <p:nvSpPr>
          <p:cNvPr id="20" name="architecture-sub-3">
            <a:extLst xmlns:a="http://schemas.openxmlformats.org/drawingml/2006/main">
              <a:ext uri="{FF2B5EF4-FFF2-40B4-BE49-F238E27FC236}">
                <a16:creationId xmlns:a16="http://schemas.microsoft.com/office/drawing/2014/main" id="{BCF8538A-8BC8-4980-9693-04D4BBA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29125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Hibernate • Validation • Transaction</a:t>
            </a:r>
          </a:p>
        </p:txBody>
      </p:sp>
      <p:sp>
        <p:nvSpPr>
          <p:cNvPr id="21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77676593-734B-4CB1-89B9-4A2D975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62500"/>
            <a:ext cx="38100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22" name="architecture-layer-4">
            <a:extLst xmlns:a="http://schemas.openxmlformats.org/drawingml/2006/main">
              <a:ext uri="{FF2B5EF4-FFF2-40B4-BE49-F238E27FC236}">
                <a16:creationId xmlns:a16="http://schemas.microsoft.com/office/drawing/2014/main" id="{A1A7249E-0FE8-4A37-B11D-E8963B6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581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23" name="architecture-head-4">
            <a:extLst xmlns:a="http://schemas.openxmlformats.org/drawingml/2006/main">
              <a:ext uri="{FF2B5EF4-FFF2-40B4-BE49-F238E27FC236}">
                <a16:creationId xmlns:a16="http://schemas.microsoft.com/office/drawing/2014/main" id="{1E757C32-567A-4128-9B26-C6AE0EE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00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PostgreSQL + Flyway</a:t>
            </a:r>
          </a:p>
        </p:txBody>
      </p:sp>
      <p:sp>
        <p:nvSpPr>
          <p:cNvPr id="24" name="architecture-sub-4">
            <a:extLst xmlns:a="http://schemas.openxmlformats.org/drawingml/2006/main">
              <a:ext uri="{FF2B5EF4-FFF2-40B4-BE49-F238E27FC236}">
                <a16:creationId xmlns:a16="http://schemas.microsoft.com/office/drawing/2014/main" id="{5426B801-798A-4D5C-8518-2D692F7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ฐานข้อมูล relational • schema migrations</a:t>
            </a:r>
          </a:p>
        </p:txBody>
      </p:sp>
      <p:sp>
        <p:nvSpPr>
          <p:cNvPr id="25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9B39E0D7-3734-487B-9B51-7BE970AC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ระบบครอบคลุม</a:t>
            </a:r>
          </a:p>
        </p:txBody>
      </p:sp>
      <p:sp>
        <p:nvSpPr>
          <p:cNvPr id="26" name="scope-num-0">
            <a:extLst xmlns:a="http://schemas.openxmlformats.org/drawingml/2006/main">
              <a:ext uri="{FF2B5EF4-FFF2-40B4-BE49-F238E27FC236}">
                <a16:creationId xmlns:a16="http://schemas.microsoft.com/office/drawing/2014/main" id="{DE9DCD3D-C06A-44E6-A5B6-E9726E37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27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D9F0AB64-60F7-4408-B8CA-D553A0C7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9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จัดการหนังสือ</a:t>
            </a:r>
          </a:p>
        </p:txBody>
      </p:sp>
      <p:sp>
        <p:nvSpPr>
          <p:cNvPr id="28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549D7AB8-6202-404D-BEE1-EFF5062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ข้อมูลชื่อหนังสือ ผู้แต่ง สำนักพิมพ์ หมวดหมู่ และตัวเล่ม</a:t>
            </a:r>
          </a:p>
        </p:txBody>
      </p:sp>
      <p:sp>
        <p:nvSpPr>
          <p:cNvPr id="29" name="scope-rule-0">
            <a:extLst xmlns:a="http://schemas.openxmlformats.org/drawingml/2006/main">
              <a:ext uri="{FF2B5EF4-FFF2-40B4-BE49-F238E27FC236}">
                <a16:creationId xmlns:a16="http://schemas.microsoft.com/office/drawing/2014/main" id="{72639EB6-FE5D-4EF2-87F9-F15DF5E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527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cope-num-1">
            <a:extLst xmlns:a="http://schemas.openxmlformats.org/drawingml/2006/main">
              <a:ext uri="{FF2B5EF4-FFF2-40B4-BE49-F238E27FC236}">
                <a16:creationId xmlns:a16="http://schemas.microsoft.com/office/drawing/2014/main" id="{863D11CA-D08E-4958-B77E-A2AD12A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1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9EFA0704-3243-4618-9408-2A47B237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ยืมและคืน</a:t>
            </a:r>
          </a:p>
        </p:txBody>
      </p:sp>
      <p:sp>
        <p:nvSpPr>
          <p:cNvPr id="32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5C62B44D-FFEE-45A0-A937-55355A2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90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ตรวจสิทธิ์ กำหนดวันคืน ต่ออายุ และเปลี่ยนสถานะ</a:t>
            </a:r>
          </a:p>
        </p:txBody>
      </p:sp>
      <p:sp>
        <p:nvSpPr>
          <p:cNvPr id="33" name="scope-rule-1">
            <a:extLst xmlns:a="http://schemas.openxmlformats.org/drawingml/2006/main">
              <a:ext uri="{FF2B5EF4-FFF2-40B4-BE49-F238E27FC236}">
                <a16:creationId xmlns:a16="http://schemas.microsoft.com/office/drawing/2014/main" id="{1878BE32-DE4E-4F5D-9782-DEF7E0D2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cope-num-2">
            <a:extLst xmlns:a="http://schemas.openxmlformats.org/drawingml/2006/main">
              <a:ext uri="{FF2B5EF4-FFF2-40B4-BE49-F238E27FC236}">
                <a16:creationId xmlns:a16="http://schemas.microsoft.com/office/drawing/2014/main" id="{71BCD185-D8E6-4FA5-BA31-6205C8C0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433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5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1378440A-1D70-4471-AA6A-C23AAF2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433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บริการสมาชิก</a:t>
            </a:r>
          </a:p>
        </p:txBody>
      </p:sp>
      <p:sp>
        <p:nvSpPr>
          <p:cNvPr id="36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9BE6B1F9-F1F9-4AA8-B3B4-246C297A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ค่าปรับ การจองคิว และการแจ้งรายการพร้อมรับ</a:t>
            </a:r>
          </a:p>
        </p:txBody>
      </p:sp>
      <p:sp>
        <p:nvSpPr>
          <p:cNvPr id="37" name="scope-rule-2">
            <a:extLst xmlns:a="http://schemas.openxmlformats.org/drawingml/2006/main">
              <a:ext uri="{FF2B5EF4-FFF2-40B4-BE49-F238E27FC236}">
                <a16:creationId xmlns:a16="http://schemas.microsoft.com/office/drawing/2014/main" id="{44FFC443-9F58-4740-BFBB-9F5C37D3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862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ope-num-3">
            <a:extLst xmlns:a="http://schemas.openxmlformats.org/drawingml/2006/main">
              <a:ext uri="{FF2B5EF4-FFF2-40B4-BE49-F238E27FC236}">
                <a16:creationId xmlns:a16="http://schemas.microsoft.com/office/drawing/2014/main" id="{80EEA43E-B6A9-4B23-8D78-07D48C0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10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9" name="scope-title-3">
            <a:extLst xmlns:a="http://schemas.openxmlformats.org/drawingml/2006/main">
              <a:ext uri="{FF2B5EF4-FFF2-40B4-BE49-F238E27FC236}">
                <a16:creationId xmlns:a16="http://schemas.microsoft.com/office/drawing/2014/main" id="{387EC94A-2EFB-46DF-9112-66B1030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รายงาน</a:t>
            </a:r>
          </a:p>
        </p:txBody>
      </p:sp>
      <p:sp>
        <p:nvSpPr>
          <p:cNvPr id="40" name="scope-body-3">
            <a:extLst xmlns:a="http://schemas.openxmlformats.org/drawingml/2006/main">
              <a:ext uri="{FF2B5EF4-FFF2-40B4-BE49-F238E27FC236}">
                <a16:creationId xmlns:a16="http://schemas.microsoft.com/office/drawing/2014/main" id="{C9564A7A-9E67-45A8-8EC4-3AD645E1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244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ส่งออกรายงานการยืมและรายการเกินกำหนดเป็น CSV/PDF</a:t>
            </a:r>
          </a:p>
        </p:txBody>
      </p:sp>
    </p:spTree>
    <p:extLst>
      <p:ext uri="{BB962C8B-B14F-4D97-AF65-F5344CB8AC3E}">
        <p14:creationId xmlns:p14="http://schemas.microsoft.com/office/powerpoint/2010/main" val="291579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D5D9CCB7-0D32-4F39-86CD-5743015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D1367BB-C707-4D51-8ECD-74CA4B7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สมาชิกและส่วนงานที่รับผิดชอบ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827FCF06-C19C-43E1-8533-2688427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713787A4-2DA6-44D9-992B-A67395F1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EBE2118D-CE40-4BD9-9184-0098862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03 / 08</a:t>
            </a:r>
          </a:p>
        </p:txBody>
      </p:sp>
      <p:sp>
        <p:nvSpPr>
          <p:cNvPr id="6" name="member-number-0">
            <a:extLst xmlns:a="http://schemas.openxmlformats.org/drawingml/2006/main">
              <a:ext uri="{FF2B5EF4-FFF2-40B4-BE49-F238E27FC236}">
                <a16:creationId xmlns:a16="http://schemas.microsoft.com/office/drawing/2014/main" id="{285C8961-E65C-4BF2-A407-400AACF8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mber-number-text-0">
            <a:extLst xmlns:a="http://schemas.openxmlformats.org/drawingml/2006/main">
              <a:ext uri="{FF2B5EF4-FFF2-40B4-BE49-F238E27FC236}">
                <a16:creationId xmlns:a16="http://schemas.microsoft.com/office/drawing/2014/main" id="{13AAD7BB-6F7C-4044-8BDB-F0CD4EA3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member-name-0">
            <a:extLst xmlns:a="http://schemas.openxmlformats.org/drawingml/2006/main">
              <a:ext uri="{FF2B5EF4-FFF2-40B4-BE49-F238E27FC236}">
                <a16:creationId xmlns:a16="http://schemas.microsoft.com/office/drawing/2014/main" id="{4E1E7360-751C-45A6-AD76-C719E0F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นายอชิรวัช บึงไสย์</a:t>
            </a:r>
          </a:p>
        </p:txBody>
      </p:sp>
      <p:sp>
        <p:nvSpPr>
          <p:cNvPr id="9" name="member-branch-0">
            <a:extLst xmlns:a="http://schemas.openxmlformats.org/drawingml/2006/main">
              <a:ext uri="{FF2B5EF4-FFF2-40B4-BE49-F238E27FC236}">
                <a16:creationId xmlns:a16="http://schemas.microsoft.com/office/drawing/2014/main" id="{589165BC-07D5-472E-B1D5-D574E1F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673380298-3  •  achirawat_673380298-3_01</a:t>
            </a:r>
          </a:p>
        </p:txBody>
      </p:sp>
      <p:sp>
        <p:nvSpPr>
          <p:cNvPr id="10" name="member-work-0">
            <a:extLst xmlns:a="http://schemas.openxmlformats.org/drawingml/2006/main">
              <a:ext uri="{FF2B5EF4-FFF2-40B4-BE49-F238E27FC236}">
                <a16:creationId xmlns:a16="http://schemas.microsoft.com/office/drawing/2014/main" id="{C55D7E04-5C66-40FC-AD4E-DEAAB980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7637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Backend: Book / BookCopy / Category / Publisher / Author CRUD, Repository Layer, Swagger Config</a:t>
            </a:r>
          </a:p>
        </p:txBody>
      </p:sp>
      <p:sp>
        <p:nvSpPr>
          <p:cNvPr id="11" name="member-rule-0">
            <a:extLst xmlns:a="http://schemas.openxmlformats.org/drawingml/2006/main">
              <a:ext uri="{FF2B5EF4-FFF2-40B4-BE49-F238E27FC236}">
                <a16:creationId xmlns:a16="http://schemas.microsoft.com/office/drawing/2014/main" id="{0717A249-8E4F-46CF-ACFD-B9CADF9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mber-number-1">
            <a:extLst xmlns:a="http://schemas.openxmlformats.org/drawingml/2006/main">
              <a:ext uri="{FF2B5EF4-FFF2-40B4-BE49-F238E27FC236}">
                <a16:creationId xmlns:a16="http://schemas.microsoft.com/office/drawing/2014/main" id="{75DF69D8-BB9C-41E5-8A91-E608D73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mber-number-text-1">
            <a:extLst xmlns:a="http://schemas.openxmlformats.org/drawingml/2006/main">
              <a:ext uri="{FF2B5EF4-FFF2-40B4-BE49-F238E27FC236}">
                <a16:creationId xmlns:a16="http://schemas.microsoft.com/office/drawing/2014/main" id="{EF3DA777-D33C-4D66-9A2F-6D3DD538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4" name="member-name-1">
            <a:extLst xmlns:a="http://schemas.openxmlformats.org/drawingml/2006/main">
              <a:ext uri="{FF2B5EF4-FFF2-40B4-BE49-F238E27FC236}">
                <a16:creationId xmlns:a16="http://schemas.microsoft.com/office/drawing/2014/main" id="{C4C0F9C2-2C85-4F4C-814C-921EA70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นายวัชรวิศว์ น้อยเมล์</a:t>
            </a:r>
          </a:p>
        </p:txBody>
      </p:sp>
      <p:sp>
        <p:nvSpPr>
          <p:cNvPr id="15" name="member-branch-1">
            <a:extLst xmlns:a="http://schemas.openxmlformats.org/drawingml/2006/main">
              <a:ext uri="{FF2B5EF4-FFF2-40B4-BE49-F238E27FC236}">
                <a16:creationId xmlns:a16="http://schemas.microsoft.com/office/drawing/2014/main" id="{009D675B-E16F-4A45-9427-25A8FD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673380059-1  •  watcharawit_673380059-1_01</a:t>
            </a:r>
          </a:p>
        </p:txBody>
      </p:sp>
      <p:sp>
        <p:nvSpPr>
          <p:cNvPr id="16" name="member-work-1">
            <a:extLst xmlns:a="http://schemas.openxmlformats.org/drawingml/2006/main">
              <a:ext uri="{FF2B5EF4-FFF2-40B4-BE49-F238E27FC236}">
                <a16:creationId xmlns:a16="http://schemas.microsoft.com/office/drawing/2014/main" id="{1300016E-7E76-4DA9-A119-1E11FCDF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6697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Backend: Loan / Return flow, State Pattern, Chain of Responsibility</a:t>
            </a:r>
          </a:p>
        </p:txBody>
      </p:sp>
      <p:sp>
        <p:nvSpPr>
          <p:cNvPr id="17" name="member-rule-1">
            <a:extLst xmlns:a="http://schemas.openxmlformats.org/drawingml/2006/main">
              <a:ext uri="{FF2B5EF4-FFF2-40B4-BE49-F238E27FC236}">
                <a16:creationId xmlns:a16="http://schemas.microsoft.com/office/drawing/2014/main" id="{ECF06E73-2502-4D7E-B1C3-BCAC9D5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mber-number-2">
            <a:extLst xmlns:a="http://schemas.openxmlformats.org/drawingml/2006/main">
              <a:ext uri="{FF2B5EF4-FFF2-40B4-BE49-F238E27FC236}">
                <a16:creationId xmlns:a16="http://schemas.microsoft.com/office/drawing/2014/main" id="{137B5EC8-3E10-4A1B-8E09-2852E0E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mber-number-text-2">
            <a:extLst xmlns:a="http://schemas.openxmlformats.org/drawingml/2006/main">
              <a:ext uri="{FF2B5EF4-FFF2-40B4-BE49-F238E27FC236}">
                <a16:creationId xmlns:a16="http://schemas.microsoft.com/office/drawing/2014/main" id="{A71BCBA0-2C08-497E-B5FF-56D140CE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member-name-2">
            <a:extLst xmlns:a="http://schemas.openxmlformats.org/drawingml/2006/main">
              <a:ext uri="{FF2B5EF4-FFF2-40B4-BE49-F238E27FC236}">
                <a16:creationId xmlns:a16="http://schemas.microsoft.com/office/drawing/2014/main" id="{D294700C-F202-40FA-8E4D-DDD51734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นายกรกฏ พรมทอง</a:t>
            </a:r>
          </a:p>
        </p:txBody>
      </p:sp>
      <p:sp>
        <p:nvSpPr>
          <p:cNvPr id="21" name="member-branch-2">
            <a:extLst xmlns:a="http://schemas.openxmlformats.org/drawingml/2006/main">
              <a:ext uri="{FF2B5EF4-FFF2-40B4-BE49-F238E27FC236}">
                <a16:creationId xmlns:a16="http://schemas.microsoft.com/office/drawing/2014/main" id="{2EC7315A-6173-4A22-818D-2E1A559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673380025-8  •  korakot_673380025-8_01</a:t>
            </a:r>
          </a:p>
        </p:txBody>
      </p:sp>
      <p:sp>
        <p:nvSpPr>
          <p:cNvPr id="22" name="member-work-2">
            <a:extLst xmlns:a="http://schemas.openxmlformats.org/drawingml/2006/main">
              <a:ext uri="{FF2B5EF4-FFF2-40B4-BE49-F238E27FC236}">
                <a16:creationId xmlns:a16="http://schemas.microsoft.com/office/drawing/2014/main" id="{A17393C3-2BBE-48A8-A22A-B4EDF82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Backend: Fine (Strategy), Reservation (Observer), Report (Template Method)</a:t>
            </a:r>
          </a:p>
        </p:txBody>
      </p:sp>
      <p:sp>
        <p:nvSpPr>
          <p:cNvPr id="23" name="member-rule-2">
            <a:extLst xmlns:a="http://schemas.openxmlformats.org/drawingml/2006/main">
              <a:ext uri="{FF2B5EF4-FFF2-40B4-BE49-F238E27FC236}">
                <a16:creationId xmlns:a16="http://schemas.microsoft.com/office/drawing/2014/main" id="{01440D05-782C-4997-B151-7031312C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mber-number-3">
            <a:extLst xmlns:a="http://schemas.openxmlformats.org/drawingml/2006/main">
              <a:ext uri="{FF2B5EF4-FFF2-40B4-BE49-F238E27FC236}">
                <a16:creationId xmlns:a16="http://schemas.microsoft.com/office/drawing/2014/main" id="{127945F0-2BE9-4006-B19A-8D11EE06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ember-number-text-3">
            <a:extLst xmlns:a="http://schemas.openxmlformats.org/drawingml/2006/main">
              <a:ext uri="{FF2B5EF4-FFF2-40B4-BE49-F238E27FC236}">
                <a16:creationId xmlns:a16="http://schemas.microsoft.com/office/drawing/2014/main" id="{2F402D0C-7902-4224-860F-C490C0B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6" name="member-name-3">
            <a:extLst xmlns:a="http://schemas.openxmlformats.org/drawingml/2006/main">
              <a:ext uri="{FF2B5EF4-FFF2-40B4-BE49-F238E27FC236}">
                <a16:creationId xmlns:a16="http://schemas.microsoft.com/office/drawing/2014/main" id="{26F5528D-410B-4BC2-BBAB-C6B0A5C2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นายปกรณ์เกียรติ ศรีจันทร์</a:t>
            </a:r>
          </a:p>
        </p:txBody>
      </p:sp>
      <p:sp>
        <p:nvSpPr>
          <p:cNvPr id="27" name="member-branch-3">
            <a:extLst xmlns:a="http://schemas.openxmlformats.org/drawingml/2006/main">
              <a:ext uri="{FF2B5EF4-FFF2-40B4-BE49-F238E27FC236}">
                <a16:creationId xmlns:a16="http://schemas.microsoft.com/office/drawing/2014/main" id="{02466557-15FA-4FA2-B98C-A302A9A3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244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673380045-2  •  pakornkiat_673380045-2_01</a:t>
            </a:r>
          </a:p>
        </p:txBody>
      </p:sp>
      <p:sp>
        <p:nvSpPr>
          <p:cNvPr id="28" name="member-work-3">
            <a:extLst xmlns:a="http://schemas.openxmlformats.org/drawingml/2006/main">
              <a:ext uri="{FF2B5EF4-FFF2-40B4-BE49-F238E27FC236}">
                <a16:creationId xmlns:a16="http://schemas.microsoft.com/office/drawing/2014/main" id="{8FC174A1-BB2D-44BF-8446-FBC56D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4817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Frontend React ทั้งหมด และ API Integration</a:t>
            </a:r>
          </a:p>
        </p:txBody>
      </p:sp>
      <p:sp>
        <p:nvSpPr>
          <p:cNvPr id="29" name="member-rule-3">
            <a:extLst xmlns:a="http://schemas.openxmlformats.org/drawingml/2006/main">
              <a:ext uri="{FF2B5EF4-FFF2-40B4-BE49-F238E27FC236}">
                <a16:creationId xmlns:a16="http://schemas.microsoft.com/office/drawing/2014/main" id="{E58DB28F-2E3D-4C07-883B-24775CCF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mber-number-4">
            <a:extLst xmlns:a="http://schemas.openxmlformats.org/drawingml/2006/main">
              <a:ext uri="{FF2B5EF4-FFF2-40B4-BE49-F238E27FC236}">
                <a16:creationId xmlns:a16="http://schemas.microsoft.com/office/drawing/2014/main" id="{E964FCAE-03DE-4B72-8792-A611F2EC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mber-number-text-4">
            <a:extLst xmlns:a="http://schemas.openxmlformats.org/drawingml/2006/main">
              <a:ext uri="{FF2B5EF4-FFF2-40B4-BE49-F238E27FC236}">
                <a16:creationId xmlns:a16="http://schemas.microsoft.com/office/drawing/2014/main" id="{59DAC7B5-43F7-4A90-94D5-EFA4527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32" name="member-name-4">
            <a:extLst xmlns:a="http://schemas.openxmlformats.org/drawingml/2006/main">
              <a:ext uri="{FF2B5EF4-FFF2-40B4-BE49-F238E27FC236}">
                <a16:creationId xmlns:a16="http://schemas.microsoft.com/office/drawing/2014/main" id="{8082F6E3-42CE-4A68-8998-7944211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นายสรวิชญ์ ทะมานันท์</a:t>
            </a:r>
          </a:p>
        </p:txBody>
      </p:sp>
      <p:sp>
        <p:nvSpPr>
          <p:cNvPr id="33" name="member-branch-4">
            <a:extLst xmlns:a="http://schemas.openxmlformats.org/drawingml/2006/main">
              <a:ext uri="{FF2B5EF4-FFF2-40B4-BE49-F238E27FC236}">
                <a16:creationId xmlns:a16="http://schemas.microsoft.com/office/drawing/2014/main" id="{A357A0EF-4263-46C2-8A34-D17CA4B4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150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673380295-9  •  sorawit_673380295-9_01</a:t>
            </a:r>
          </a:p>
        </p:txBody>
      </p:sp>
      <p:sp>
        <p:nvSpPr>
          <p:cNvPr id="34" name="member-work-4">
            <a:extLst xmlns:a="http://schemas.openxmlformats.org/drawingml/2006/main">
              <a:ext uri="{FF2B5EF4-FFF2-40B4-BE49-F238E27FC236}">
                <a16:creationId xmlns:a16="http://schemas.microsoft.com/office/drawing/2014/main" id="{63B028E8-36BE-4D21-8635-2D2DD29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3877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Security (JWT), Docker, CI/CD, Deployment, Unit &amp; Integration Test</a:t>
            </a:r>
          </a:p>
        </p:txBody>
      </p:sp>
    </p:spTree>
    <p:extLst>
      <p:ext uri="{BB962C8B-B14F-4D97-AF65-F5344CB8AC3E}">
        <p14:creationId xmlns:p14="http://schemas.microsoft.com/office/powerpoint/2010/main" val="65864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E7D1EFB3-5F9D-4F41-862A-DB1FC9B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60F2C2B-E96E-4319-95E5-F2FED43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แบบจำลองข้อมูลและ Flyway migrations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88957DAD-3B0C-463E-B49A-8BAA9996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D7B8C6E1-21D5-493F-9C34-29CD772C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A1F02105-E18A-4B27-89BB-74C0B5D9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04 / 08</a:t>
            </a:r>
          </a:p>
        </p:txBody>
      </p:sp>
      <p:sp>
        <p:nvSpPr>
          <p:cNvPr id="6" name="database-count">
            <a:extLst xmlns:a="http://schemas.openxmlformats.org/drawingml/2006/main">
              <a:ext uri="{FF2B5EF4-FFF2-40B4-BE49-F238E27FC236}">
                <a16:creationId xmlns:a16="http://schemas.microsoft.com/office/drawing/2014/main" id="{1722878B-AC42-40B2-B138-CC134C49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540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540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7" name="database-count-label">
            <a:extLst xmlns:a="http://schemas.openxmlformats.org/drawingml/2006/main">
              <a:ext uri="{FF2B5EF4-FFF2-40B4-BE49-F238E27FC236}">
                <a16:creationId xmlns:a16="http://schemas.microsoft.com/office/drawing/2014/main" id="{AEBB86E5-C5D8-42D2-8FE3-3B641BE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ตาราง relational</a:t>
            </a:r>
          </a:p>
        </p:txBody>
      </p:sp>
      <p:sp>
        <p:nvSpPr>
          <p:cNvPr id="8" name="relationship-title">
            <a:extLst xmlns:a="http://schemas.openxmlformats.org/drawingml/2006/main">
              <a:ext uri="{FF2B5EF4-FFF2-40B4-BE49-F238E27FC236}">
                <a16:creationId xmlns:a16="http://schemas.microsoft.com/office/drawing/2014/main" id="{BC9ED9A9-4819-4027-882D-4423381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ความสัมพันธ์หลัก</a:t>
            </a:r>
          </a:p>
        </p:txBody>
      </p:sp>
      <p:sp>
        <p:nvSpPr>
          <p:cNvPr id="9" name="relationship-0">
            <a:extLst xmlns:a="http://schemas.openxmlformats.org/drawingml/2006/main">
              <a:ext uri="{FF2B5EF4-FFF2-40B4-BE49-F238E27FC236}">
                <a16:creationId xmlns:a16="http://schemas.microsoft.com/office/drawing/2014/main" id="{2135F547-E647-4CAC-AF60-EE602F4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users  1 : 1  user_profiles</a:t>
            </a:r>
          </a:p>
        </p:txBody>
      </p:sp>
      <p:sp>
        <p:nvSpPr>
          <p:cNvPr id="10" name="relationship-rule-0">
            <a:extLst xmlns:a="http://schemas.openxmlformats.org/drawingml/2006/main">
              <a:ext uri="{FF2B5EF4-FFF2-40B4-BE49-F238E27FC236}">
                <a16:creationId xmlns:a16="http://schemas.microsoft.com/office/drawing/2014/main" id="{7873D907-A0E1-44C0-8518-1BFAA5C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lationship-1">
            <a:extLst xmlns:a="http://schemas.openxmlformats.org/drawingml/2006/main">
              <a:ext uri="{FF2B5EF4-FFF2-40B4-BE49-F238E27FC236}">
                <a16:creationId xmlns:a16="http://schemas.microsoft.com/office/drawing/2014/main" id="{1FB48094-09AA-424F-B3FD-961B4D1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909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books  1 : N  book_copies</a:t>
            </a:r>
          </a:p>
        </p:txBody>
      </p:sp>
      <p:sp>
        <p:nvSpPr>
          <p:cNvPr id="12" name="relationship-rule-1">
            <a:extLst xmlns:a="http://schemas.openxmlformats.org/drawingml/2006/main">
              <a:ext uri="{FF2B5EF4-FFF2-40B4-BE49-F238E27FC236}">
                <a16:creationId xmlns:a16="http://schemas.microsoft.com/office/drawing/2014/main" id="{BF03C4A2-9345-4687-9811-787695D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ationship-2">
            <a:extLst xmlns:a="http://schemas.openxmlformats.org/drawingml/2006/main">
              <a:ext uri="{FF2B5EF4-FFF2-40B4-BE49-F238E27FC236}">
                <a16:creationId xmlns:a16="http://schemas.microsoft.com/office/drawing/2014/main" id="{ED75095D-839B-404D-AD7E-0AEE511C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481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loans  1 : N  loan_items  1 : 0..1  fines</a:t>
            </a:r>
          </a:p>
        </p:txBody>
      </p:sp>
      <p:sp>
        <p:nvSpPr>
          <p:cNvPr id="14" name="relationship-rule-2">
            <a:extLst xmlns:a="http://schemas.openxmlformats.org/drawingml/2006/main">
              <a:ext uri="{FF2B5EF4-FFF2-40B4-BE49-F238E27FC236}">
                <a16:creationId xmlns:a16="http://schemas.microsoft.com/office/drawing/2014/main" id="{03D64956-755F-4A51-A01D-166CE6E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lationship-3">
            <a:extLst xmlns:a="http://schemas.openxmlformats.org/drawingml/2006/main">
              <a:ext uri="{FF2B5EF4-FFF2-40B4-BE49-F238E27FC236}">
                <a16:creationId xmlns:a16="http://schemas.microsoft.com/office/drawing/2014/main" id="{68089429-7287-4DED-B8A7-E9AD0F3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05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books  M : N  authors  ผ่าน book_authors</a:t>
            </a:r>
          </a:p>
        </p:txBody>
      </p:sp>
      <p:sp>
        <p:nvSpPr>
          <p:cNvPr id="16" name="relationship-rule-3">
            <a:extLst xmlns:a="http://schemas.openxmlformats.org/drawingml/2006/main">
              <a:ext uri="{FF2B5EF4-FFF2-40B4-BE49-F238E27FC236}">
                <a16:creationId xmlns:a16="http://schemas.microsoft.com/office/drawing/2014/main" id="{96E8B58D-BEC8-45AF-99A0-5AE6960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tabase-divider">
            <a:extLst xmlns:a="http://schemas.openxmlformats.org/drawingml/2006/main">
              <a:ext uri="{FF2B5EF4-FFF2-40B4-BE49-F238E27FC236}">
                <a16:creationId xmlns:a16="http://schemas.microsoft.com/office/drawing/2014/main" id="{68FBFFF7-3219-4DB1-A96D-95F26E00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76375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gration-title">
            <a:extLst xmlns:a="http://schemas.openxmlformats.org/drawingml/2006/main">
              <a:ext uri="{FF2B5EF4-FFF2-40B4-BE49-F238E27FC236}">
                <a16:creationId xmlns:a16="http://schemas.microsoft.com/office/drawing/2014/main" id="{9A87FCFC-90CF-4220-B8DC-69C6C70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240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ประวัติ schema ใน repository</a:t>
            </a:r>
          </a:p>
        </p:txBody>
      </p:sp>
      <p:sp>
        <p:nvSpPr>
          <p:cNvPr id="19" name="migration-tag-0">
            <a:extLst xmlns:a="http://schemas.openxmlformats.org/drawingml/2006/main">
              <a:ext uri="{FF2B5EF4-FFF2-40B4-BE49-F238E27FC236}">
                <a16:creationId xmlns:a16="http://schemas.microsoft.com/office/drawing/2014/main" id="{68AF4172-479A-40D6-AA00-206F95CC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gration-version-0">
            <a:extLst xmlns:a="http://schemas.openxmlformats.org/drawingml/2006/main">
              <a:ext uri="{FF2B5EF4-FFF2-40B4-BE49-F238E27FC236}">
                <a16:creationId xmlns:a16="http://schemas.microsoft.com/office/drawing/2014/main" id="{94EF4335-3F6B-45D4-9B5B-CE62EA6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V1–V5</a:t>
            </a:r>
          </a:p>
        </p:txBody>
      </p:sp>
      <p:sp>
        <p:nvSpPr>
          <p:cNvPr id="21" name="migration-detail-0">
            <a:extLst xmlns:a="http://schemas.openxmlformats.org/drawingml/2006/main">
              <a:ext uri="{FF2B5EF4-FFF2-40B4-BE49-F238E27FC236}">
                <a16:creationId xmlns:a16="http://schemas.microsoft.com/office/drawing/2014/main" id="{B2C77E55-E70A-44AC-9B17-0E26A8C8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57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catalog, users, loans, fines, reservations</a:t>
            </a:r>
          </a:p>
        </p:txBody>
      </p:sp>
      <p:sp>
        <p:nvSpPr>
          <p:cNvPr id="22" name="migration-tag-1">
            <a:extLst xmlns:a="http://schemas.openxmlformats.org/drawingml/2006/main">
              <a:ext uri="{FF2B5EF4-FFF2-40B4-BE49-F238E27FC236}">
                <a16:creationId xmlns:a16="http://schemas.microsoft.com/office/drawing/2014/main" id="{2F53D916-D4AC-4F85-92FD-C9D4817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igration-version-1">
            <a:extLst xmlns:a="http://schemas.openxmlformats.org/drawingml/2006/main">
              <a:ext uri="{FF2B5EF4-FFF2-40B4-BE49-F238E27FC236}">
                <a16:creationId xmlns:a16="http://schemas.microsoft.com/office/drawing/2014/main" id="{8689AD9D-25E3-46F7-B902-562772F8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8D5C0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8D5C00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8D5C00"/>
                </a:solidFill>
                <a:latin typeface="Tahoma"/>
                <a:ea typeface="Tahoma"/>
                <a:cs typeface="Tahoma"/>
              </a:rPr>
              <a:t>V6</a:t>
            </a:r>
          </a:p>
        </p:txBody>
      </p:sp>
      <p:sp>
        <p:nvSpPr>
          <p:cNvPr id="24" name="migration-detail-1">
            <a:extLst xmlns:a="http://schemas.openxmlformats.org/drawingml/2006/main">
              <a:ext uri="{FF2B5EF4-FFF2-40B4-BE49-F238E27FC236}">
                <a16:creationId xmlns:a16="http://schemas.microsoft.com/office/drawing/2014/main" id="{896C02C6-F7BD-49F0-ACBB-5D2E87D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479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ไม่มี migration ใน repository</a:t>
            </a:r>
          </a:p>
        </p:txBody>
      </p:sp>
      <p:sp>
        <p:nvSpPr>
          <p:cNvPr id="25" name="migration-tag-2">
            <a:extLst xmlns:a="http://schemas.openxmlformats.org/drawingml/2006/main">
              <a:ext uri="{FF2B5EF4-FFF2-40B4-BE49-F238E27FC236}">
                <a16:creationId xmlns:a16="http://schemas.microsoft.com/office/drawing/2014/main" id="{B5368E9C-A747-45E9-A9D7-0F80C13E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gration-version-2">
            <a:extLst xmlns:a="http://schemas.openxmlformats.org/drawingml/2006/main">
              <a:ext uri="{FF2B5EF4-FFF2-40B4-BE49-F238E27FC236}">
                <a16:creationId xmlns:a16="http://schemas.microsoft.com/office/drawing/2014/main" id="{958CE315-993A-4178-802A-CD2729AA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V7</a:t>
            </a:r>
          </a:p>
        </p:txBody>
      </p:sp>
      <p:sp>
        <p:nvSpPr>
          <p:cNvPr id="27" name="migration-detail-2">
            <a:extLst xmlns:a="http://schemas.openxmlformats.org/drawingml/2006/main">
              <a:ext uri="{FF2B5EF4-FFF2-40B4-BE49-F238E27FC236}">
                <a16:creationId xmlns:a16="http://schemas.microsoft.com/office/drawing/2014/main" id="{42958F7C-06ED-4BA4-AE3B-F1BEE4DF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เพิ่ม users.member_tier</a:t>
            </a:r>
          </a:p>
        </p:txBody>
      </p:sp>
      <p:sp>
        <p:nvSpPr>
          <p:cNvPr id="28" name="migration-tag-3">
            <a:extLst xmlns:a="http://schemas.openxmlformats.org/drawingml/2006/main">
              <a:ext uri="{FF2B5EF4-FFF2-40B4-BE49-F238E27FC236}">
                <a16:creationId xmlns:a16="http://schemas.microsoft.com/office/drawing/2014/main" id="{616BC54F-CD64-4773-86D4-D50B4A1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igration-version-3">
            <a:extLst xmlns:a="http://schemas.openxmlformats.org/drawingml/2006/main">
              <a:ext uri="{FF2B5EF4-FFF2-40B4-BE49-F238E27FC236}">
                <a16:creationId xmlns:a16="http://schemas.microsoft.com/office/drawing/2014/main" id="{E01327C5-4157-4AA0-A8FB-A411A659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V8</a:t>
            </a:r>
          </a:p>
        </p:txBody>
      </p:sp>
      <p:sp>
        <p:nvSpPr>
          <p:cNvPr id="30" name="migration-detail-3">
            <a:extLst xmlns:a="http://schemas.openxmlformats.org/drawingml/2006/main">
              <a:ext uri="{FF2B5EF4-FFF2-40B4-BE49-F238E27FC236}">
                <a16:creationId xmlns:a16="http://schemas.microsoft.com/office/drawing/2014/main" id="{FC6C3596-002D-4AB8-90F1-A000F3F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เพิ่ม FK 3 รายการที่ขาดใน fines / reservations</a:t>
            </a:r>
          </a:p>
        </p:txBody>
      </p:sp>
      <p:sp>
        <p:nvSpPr>
          <p:cNvPr id="31" name="migration-tag-4">
            <a:extLst xmlns:a="http://schemas.openxmlformats.org/drawingml/2006/main">
              <a:ext uri="{FF2B5EF4-FFF2-40B4-BE49-F238E27FC236}">
                <a16:creationId xmlns:a16="http://schemas.microsoft.com/office/drawing/2014/main" id="{3EA2F15A-63BC-4DC3-9CF1-E369ADC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3865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igration-version-4">
            <a:extLst xmlns:a="http://schemas.openxmlformats.org/drawingml/2006/main">
              <a:ext uri="{FF2B5EF4-FFF2-40B4-BE49-F238E27FC236}">
                <a16:creationId xmlns:a16="http://schemas.microsoft.com/office/drawing/2014/main" id="{DFDCEC01-AE31-41BE-A737-073BE2AB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386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V9</a:t>
            </a:r>
          </a:p>
        </p:txBody>
      </p:sp>
      <p:sp>
        <p:nvSpPr>
          <p:cNvPr id="33" name="migration-detail-4">
            <a:extLst xmlns:a="http://schemas.openxmlformats.org/drawingml/2006/main">
              <a:ext uri="{FF2B5EF4-FFF2-40B4-BE49-F238E27FC236}">
                <a16:creationId xmlns:a16="http://schemas.microsoft.com/office/drawing/2014/main" id="{D4D482C9-3C3D-4BDE-8B5D-6046C8D9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9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ผูกคิว READY กับตัวเล่มที่กันไว้ 48 ชั่วโมง</a:t>
            </a:r>
          </a:p>
        </p:txBody>
      </p:sp>
      <p:sp>
        <p:nvSpPr>
          <p:cNvPr id="34" name="migration-note">
            <a:extLst xmlns:a="http://schemas.openxmlformats.org/drawingml/2006/main">
              <a:ext uri="{FF2B5EF4-FFF2-40B4-BE49-F238E27FC236}">
                <a16:creationId xmlns:a16="http://schemas.microsoft.com/office/drawing/2014/main" id="{B0E1EE9D-DBD7-45EA-B8A0-CCAD1C5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19700"/>
            <a:ext cx="44005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igration-note-text">
            <a:extLst xmlns:a="http://schemas.openxmlformats.org/drawingml/2006/main">
              <a:ext uri="{FF2B5EF4-FFF2-40B4-BE49-F238E27FC236}">
                <a16:creationId xmlns:a16="http://schemas.microsoft.com/office/drawing/2014/main" id="{8848B454-B045-4D6D-BA46-0DF8DF6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673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E303D"/>
                </a:solidFill>
                <a:latin typeface="Tahoma"/>
                <a:ea typeface="Tahoma"/>
                <a:cs typeface="Tahoma"/>
              </a:rPr>
              <a:t>V8 ตรวจ orphan rows; V9 กัน READY เก่าเข้าคิวใหม่ ต้องทดสอบทั้งสอง migration บน staging ก่อน deploy</a:t>
            </a:r>
          </a:p>
        </p:txBody>
      </p:sp>
    </p:spTree>
    <p:extLst>
      <p:ext uri="{BB962C8B-B14F-4D97-AF65-F5344CB8AC3E}">
        <p14:creationId xmlns:p14="http://schemas.microsoft.com/office/powerpoint/2010/main" val="904311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54EAD590-0D37-4700-817F-37922636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229CB06-4F30-43EE-A24F-3A76C96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Design patterns ที่เชื่อมกับ implementation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CDE6047-6A74-4F2A-B406-E30335D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6A83D14F-D439-4F34-B1B5-AEB3A3D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CCC3CCE1-E3E3-4AF6-897D-4C43F0C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05 / 08</a:t>
            </a:r>
          </a:p>
        </p:txBody>
      </p:sp>
      <p:sp>
        <p:nvSpPr>
          <p:cNvPr id="6" name="patterns-col1">
            <a:extLst xmlns:a="http://schemas.openxmlformats.org/drawingml/2006/main">
              <a:ext uri="{FF2B5EF4-FFF2-40B4-BE49-F238E27FC236}">
                <a16:creationId xmlns:a16="http://schemas.microsoft.com/office/drawing/2014/main" id="{142C1DD0-08C1-41C9-987A-DA534394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Pattern</a:t>
            </a:r>
          </a:p>
        </p:txBody>
      </p:sp>
      <p:sp>
        <p:nvSpPr>
          <p:cNvPr id="7" name="patterns-col2">
            <a:extLst xmlns:a="http://schemas.openxmlformats.org/drawingml/2006/main">
              <a:ext uri="{FF2B5EF4-FFF2-40B4-BE49-F238E27FC236}">
                <a16:creationId xmlns:a16="http://schemas.microsoft.com/office/drawing/2014/main" id="{733E2B25-7F60-4406-A6D3-EE5DF0A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390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Implementation</a:t>
            </a:r>
          </a:p>
        </p:txBody>
      </p:sp>
      <p:sp>
        <p:nvSpPr>
          <p:cNvPr id="8" name="patterns-col3">
            <a:extLst xmlns:a="http://schemas.openxmlformats.org/drawingml/2006/main">
              <a:ext uri="{FF2B5EF4-FFF2-40B4-BE49-F238E27FC236}">
                <a16:creationId xmlns:a16="http://schemas.microsoft.com/office/drawing/2014/main" id="{AF5622FC-EC19-4FC2-B574-51BDDD6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90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หน้าที่</a:t>
            </a:r>
          </a:p>
        </p:txBody>
      </p:sp>
      <p:sp>
        <p:nvSpPr>
          <p:cNvPr id="9" name="patterns-header-rule">
            <a:extLst xmlns:a="http://schemas.openxmlformats.org/drawingml/2006/main">
              <a:ext uri="{FF2B5EF4-FFF2-40B4-BE49-F238E27FC236}">
                <a16:creationId xmlns:a16="http://schemas.microsoft.com/office/drawing/2014/main" id="{BE517626-2066-41D2-9533-9ACBBFBE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tern-name-0">
            <a:extLst xmlns:a="http://schemas.openxmlformats.org/drawingml/2006/main">
              <a:ext uri="{FF2B5EF4-FFF2-40B4-BE49-F238E27FC236}">
                <a16:creationId xmlns:a16="http://schemas.microsoft.com/office/drawing/2014/main" id="{78F0AB14-637B-4578-AAE4-24DA9A31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Chain of Responsibility</a:t>
            </a:r>
          </a:p>
        </p:txBody>
      </p:sp>
      <p:sp>
        <p:nvSpPr>
          <p:cNvPr id="11" name="pattern-impl-0">
            <a:extLst xmlns:a="http://schemas.openxmlformats.org/drawingml/2006/main">
              <a:ext uri="{FF2B5EF4-FFF2-40B4-BE49-F238E27FC236}">
                <a16:creationId xmlns:a16="http://schemas.microsoft.com/office/drawing/2014/main" id="{21B0961A-5923-4420-82ED-463309B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335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BorrowRule → MemberStatusRule → UnpaidFineRule → LoanQuotaRule → CopyAvailabilityRule</a:t>
            </a:r>
          </a:p>
        </p:txBody>
      </p:sp>
      <p:sp>
        <p:nvSpPr>
          <p:cNvPr id="12" name="pattern-role-0">
            <a:extLst xmlns:a="http://schemas.openxmlformats.org/drawingml/2006/main">
              <a:ext uri="{FF2B5EF4-FFF2-40B4-BE49-F238E27FC236}">
                <a16:creationId xmlns:a16="http://schemas.microsoft.com/office/drawing/2014/main" id="{CCDE5ADD-0FCB-4E53-BD0A-23344EB5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3357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LoanServiceImpl ตรวจตาม order() และหยุดเมื่อไม่ผ่าน</a:t>
            </a:r>
          </a:p>
        </p:txBody>
      </p:sp>
      <p:sp>
        <p:nvSpPr>
          <p:cNvPr id="13" name="pattern-rule-0">
            <a:extLst xmlns:a="http://schemas.openxmlformats.org/drawingml/2006/main">
              <a:ext uri="{FF2B5EF4-FFF2-40B4-BE49-F238E27FC236}">
                <a16:creationId xmlns:a16="http://schemas.microsoft.com/office/drawing/2014/main" id="{D22A3CA4-3051-4FAE-80E6-8DB7B76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tern-name-1">
            <a:extLst xmlns:a="http://schemas.openxmlformats.org/drawingml/2006/main">
              <a:ext uri="{FF2B5EF4-FFF2-40B4-BE49-F238E27FC236}">
                <a16:creationId xmlns:a16="http://schemas.microsoft.com/office/drawing/2014/main" id="{A0012144-7A68-4584-A4EF-5B09DE2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State</a:t>
            </a:r>
          </a:p>
        </p:txBody>
      </p:sp>
      <p:sp>
        <p:nvSpPr>
          <p:cNvPr id="15" name="pattern-impl-1">
            <a:extLst xmlns:a="http://schemas.openxmlformats.org/drawingml/2006/main">
              <a:ext uri="{FF2B5EF4-FFF2-40B4-BE49-F238E27FC236}">
                <a16:creationId xmlns:a16="http://schemas.microsoft.com/office/drawing/2014/main" id="{14FC3EA2-3553-4DE7-BAF0-BA0A262A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717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LoanStateFactory • ActiveState • OverdueState • ReturnedState • LostState</a:t>
            </a:r>
          </a:p>
        </p:txBody>
      </p:sp>
      <p:sp>
        <p:nvSpPr>
          <p:cNvPr id="16" name="pattern-role-1">
            <a:extLst xmlns:a="http://schemas.openxmlformats.org/drawingml/2006/main">
              <a:ext uri="{FF2B5EF4-FFF2-40B4-BE49-F238E27FC236}">
                <a16:creationId xmlns:a16="http://schemas.microsoft.com/office/drawing/2014/main" id="{70B707F3-C0A5-48C6-A8AD-6DD361A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จำกัดการคืนและต่ออายุตามสถานะ loan</a:t>
            </a:r>
          </a:p>
        </p:txBody>
      </p:sp>
      <p:sp>
        <p:nvSpPr>
          <p:cNvPr id="17" name="pattern-rule-1">
            <a:extLst xmlns:a="http://schemas.openxmlformats.org/drawingml/2006/main">
              <a:ext uri="{FF2B5EF4-FFF2-40B4-BE49-F238E27FC236}">
                <a16:creationId xmlns:a16="http://schemas.microsoft.com/office/drawing/2014/main" id="{D88EB487-DA8B-477D-98EF-C174977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tern-name-2">
            <a:extLst xmlns:a="http://schemas.openxmlformats.org/drawingml/2006/main">
              <a:ext uri="{FF2B5EF4-FFF2-40B4-BE49-F238E27FC236}">
                <a16:creationId xmlns:a16="http://schemas.microsoft.com/office/drawing/2014/main" id="{892CFC1B-1C57-4641-8CDB-37AAFCF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Strategy</a:t>
            </a:r>
          </a:p>
        </p:txBody>
      </p:sp>
      <p:sp>
        <p:nvSpPr>
          <p:cNvPr id="19" name="pattern-impl-2">
            <a:extLst xmlns:a="http://schemas.openxmlformats.org/drawingml/2006/main">
              <a:ext uri="{FF2B5EF4-FFF2-40B4-BE49-F238E27FC236}">
                <a16:creationId xmlns:a16="http://schemas.microsoft.com/office/drawing/2014/main" id="{AFAA9AAD-2E2D-49D7-AADA-C00BBE2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099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Student / Staff / ExternalFineStrategy</a:t>
            </a:r>
          </a:p>
        </p:txBody>
      </p:sp>
      <p:sp>
        <p:nvSpPr>
          <p:cNvPr id="20" name="pattern-role-2">
            <a:extLst xmlns:a="http://schemas.openxmlformats.org/drawingml/2006/main">
              <a:ext uri="{FF2B5EF4-FFF2-40B4-BE49-F238E27FC236}">
                <a16:creationId xmlns:a16="http://schemas.microsoft.com/office/drawing/2014/main" id="{210DDF19-CE53-434E-A112-6FEA8443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3 / 5 (cap 300) / 10 บาทต่อวัน ตาม MemberTier</a:t>
            </a:r>
          </a:p>
        </p:txBody>
      </p:sp>
      <p:sp>
        <p:nvSpPr>
          <p:cNvPr id="21" name="pattern-rule-2">
            <a:extLst xmlns:a="http://schemas.openxmlformats.org/drawingml/2006/main">
              <a:ext uri="{FF2B5EF4-FFF2-40B4-BE49-F238E27FC236}">
                <a16:creationId xmlns:a16="http://schemas.microsoft.com/office/drawing/2014/main" id="{F4C132E0-3666-4F9E-A9CB-41D25DB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tern-name-3">
            <a:extLst xmlns:a="http://schemas.openxmlformats.org/drawingml/2006/main">
              <a:ext uri="{FF2B5EF4-FFF2-40B4-BE49-F238E27FC236}">
                <a16:creationId xmlns:a16="http://schemas.microsoft.com/office/drawing/2014/main" id="{C67AF123-1C1C-465E-897C-8102F106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Observer</a:t>
            </a:r>
          </a:p>
        </p:txBody>
      </p:sp>
      <p:sp>
        <p:nvSpPr>
          <p:cNvPr id="23" name="pattern-impl-3">
            <a:extLst xmlns:a="http://schemas.openxmlformats.org/drawingml/2006/main">
              <a:ext uri="{FF2B5EF4-FFF2-40B4-BE49-F238E27FC236}">
                <a16:creationId xmlns:a16="http://schemas.microsoft.com/office/drawing/2014/main" id="{0B12185B-2421-4050-AB43-BA02074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481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BookReturnedEvent → ReservationNotificationListener</a:t>
            </a:r>
          </a:p>
        </p:txBody>
      </p:sp>
      <p:sp>
        <p:nvSpPr>
          <p:cNvPr id="24" name="pattern-role-3">
            <a:extLst xmlns:a="http://schemas.openxmlformats.org/drawingml/2006/main">
              <a:ext uri="{FF2B5EF4-FFF2-40B4-BE49-F238E27FC236}">
                <a16:creationId xmlns:a16="http://schemas.microsoft.com/office/drawing/2014/main" id="{D2B411F8-42F8-4CA3-BB56-8BCC19C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4817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กัน copy ให้เจ้าของคิว 48 ชม.; ยกเลิก/หมดอายุส่งต่อคิว</a:t>
            </a:r>
          </a:p>
        </p:txBody>
      </p:sp>
      <p:sp>
        <p:nvSpPr>
          <p:cNvPr id="25" name="pattern-rule-3">
            <a:extLst xmlns:a="http://schemas.openxmlformats.org/drawingml/2006/main">
              <a:ext uri="{FF2B5EF4-FFF2-40B4-BE49-F238E27FC236}">
                <a16:creationId xmlns:a16="http://schemas.microsoft.com/office/drawing/2014/main" id="{E2E7699F-40DC-4B8B-A1D8-00C4B2C8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tern-name-4">
            <a:extLst xmlns:a="http://schemas.openxmlformats.org/drawingml/2006/main">
              <a:ext uri="{FF2B5EF4-FFF2-40B4-BE49-F238E27FC236}">
                <a16:creationId xmlns:a16="http://schemas.microsoft.com/office/drawing/2014/main" id="{499E10F3-FD31-4DDB-8D9A-06C6F38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Template Method</a:t>
            </a:r>
          </a:p>
        </p:txBody>
      </p:sp>
      <p:sp>
        <p:nvSpPr>
          <p:cNvPr id="27" name="pattern-impl-4">
            <a:extLst xmlns:a="http://schemas.openxmlformats.org/drawingml/2006/main">
              <a:ext uri="{FF2B5EF4-FFF2-40B4-BE49-F238E27FC236}">
                <a16:creationId xmlns:a16="http://schemas.microsoft.com/office/drawing/2014/main" id="{6DF5A99D-8A0E-4C06-A418-D1B9EF4D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AbstractReportGenerator → CsvReportGenerator / PdfReportGenerator</a:t>
            </a:r>
          </a:p>
        </p:txBody>
      </p:sp>
      <p:sp>
        <p:nvSpPr>
          <p:cNvPr id="28" name="pattern-role-4">
            <a:extLst xmlns:a="http://schemas.openxmlformats.org/drawingml/2006/main">
              <a:ext uri="{FF2B5EF4-FFF2-40B4-BE49-F238E27FC236}">
                <a16:creationId xmlns:a16="http://schemas.microsoft.com/office/drawing/2014/main" id="{E73AE669-FFD0-4B7F-ABA7-CDDDD41F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ReportController เลือกผลลัพธ์ CSV หรือ PDF</a:t>
            </a:r>
          </a:p>
        </p:txBody>
      </p:sp>
      <p:sp>
        <p:nvSpPr>
          <p:cNvPr id="29" name="pattern-rule-4">
            <a:extLst xmlns:a="http://schemas.openxmlformats.org/drawingml/2006/main">
              <a:ext uri="{FF2B5EF4-FFF2-40B4-BE49-F238E27FC236}">
                <a16:creationId xmlns:a16="http://schemas.microsoft.com/office/drawing/2014/main" id="{B7190D41-CAEF-4227-8BCE-D2EEA2ED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terns-footnote">
            <a:extLst xmlns:a="http://schemas.openxmlformats.org/drawingml/2006/main">
              <a:ext uri="{FF2B5EF4-FFF2-40B4-BE49-F238E27FC236}">
                <a16:creationId xmlns:a16="http://schemas.microsoft.com/office/drawing/2014/main" id="{7AAC64C9-145E-4D84-BB92-FD22904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172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terns-note">
            <a:extLst xmlns:a="http://schemas.openxmlformats.org/drawingml/2006/main">
              <a:ext uri="{FF2B5EF4-FFF2-40B4-BE49-F238E27FC236}">
                <a16:creationId xmlns:a16="http://schemas.microsoft.com/office/drawing/2014/main" id="{45894B80-5CD9-43B0-B9E4-82D4E48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72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อัตราค่าปรับและ flow สอดคล้องกับ strategy/service ที่แก้และทดสอบแล้ว</a:t>
            </a:r>
          </a:p>
        </p:txBody>
      </p:sp>
    </p:spTree>
    <p:extLst>
      <p:ext uri="{BB962C8B-B14F-4D97-AF65-F5344CB8AC3E}">
        <p14:creationId xmlns:p14="http://schemas.microsoft.com/office/powerpoint/2010/main" val="1033801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38D2AE1B-DCC9-467F-A83B-0EAC1D7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6650AEF-2AE7-4F55-92C9-47AF965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กฎยืม คืน และค่าปรับ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F03A2A5-A96A-4196-B362-8E96024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6F61CA5E-6DAA-4054-8D51-FF561D27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10393186-E3D0-4043-A59F-2E0B3BC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06 / 08</a:t>
            </a:r>
          </a:p>
        </p:txBody>
      </p:sp>
      <p:sp>
        <p:nvSpPr>
          <p:cNvPr id="6" name="loan-step-0">
            <a:extLst xmlns:a="http://schemas.openxmlformats.org/drawingml/2006/main">
              <a:ext uri="{FF2B5EF4-FFF2-40B4-BE49-F238E27FC236}">
                <a16:creationId xmlns:a16="http://schemas.microsoft.com/office/drawing/2014/main" id="{A3CBF94B-C0CC-4195-B463-7AE74791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22669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7" name="loan-step-title-0">
            <a:extLst xmlns:a="http://schemas.openxmlformats.org/drawingml/2006/main">
              <a:ext uri="{FF2B5EF4-FFF2-40B4-BE49-F238E27FC236}">
                <a16:creationId xmlns:a16="http://schemas.microsoft.com/office/drawing/2014/main" id="{77965246-B1DD-406C-8CC8-943BF62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ยืม</a:t>
            </a:r>
          </a:p>
        </p:txBody>
      </p:sp>
      <p:sp>
        <p:nvSpPr>
          <p:cNvPr id="8" name="loan-step-desc-0">
            <a:extLst xmlns:a="http://schemas.openxmlformats.org/drawingml/2006/main">
              <a:ext uri="{FF2B5EF4-FFF2-40B4-BE49-F238E27FC236}">
                <a16:creationId xmlns:a16="http://schemas.microsoft.com/office/drawing/2014/main" id="{6B1EC311-8B1F-4573-889C-E998746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907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ตรวจสมาชิก • ค่าปรับ • quota • ตัวเล่ม</a:t>
            </a:r>
          </a:p>
        </p:txBody>
      </p:sp>
      <p:sp>
        <p:nvSpPr>
          <p:cNvPr id="9" name="loan-step-arrow-0">
            <a:extLst xmlns:a="http://schemas.openxmlformats.org/drawingml/2006/main">
              <a:ext uri="{FF2B5EF4-FFF2-40B4-BE49-F238E27FC236}">
                <a16:creationId xmlns:a16="http://schemas.microsoft.com/office/drawing/2014/main" id="{382F89E0-52D7-4C1D-A2FB-2FE743E6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431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0" name="loan-step-1">
            <a:extLst xmlns:a="http://schemas.openxmlformats.org/drawingml/2006/main">
              <a:ext uri="{FF2B5EF4-FFF2-40B4-BE49-F238E27FC236}">
                <a16:creationId xmlns:a16="http://schemas.microsoft.com/office/drawing/2014/main" id="{C821790E-BA2A-4F8C-986C-584A6BD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22669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1" name="loan-step-title-1">
            <a:extLst xmlns:a="http://schemas.openxmlformats.org/drawingml/2006/main">
              <a:ext uri="{FF2B5EF4-FFF2-40B4-BE49-F238E27FC236}">
                <a16:creationId xmlns:a16="http://schemas.microsoft.com/office/drawing/2014/main" id="{E6DA9741-1EC9-43D4-BBCD-6855E1EA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กำหนดคืน</a:t>
            </a:r>
          </a:p>
        </p:txBody>
      </p:sp>
      <p:sp>
        <p:nvSpPr>
          <p:cNvPr id="12" name="loan-step-desc-1">
            <a:extLst xmlns:a="http://schemas.openxmlformats.org/drawingml/2006/main">
              <a:ext uri="{FF2B5EF4-FFF2-40B4-BE49-F238E27FC236}">
                <a16:creationId xmlns:a16="http://schemas.microsoft.com/office/drawing/2014/main" id="{8F6258D4-286B-4947-875E-D8EAF3F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วันครบกำหนดตามประเภทสมาชิก</a:t>
            </a:r>
          </a:p>
        </p:txBody>
      </p:sp>
      <p:sp>
        <p:nvSpPr>
          <p:cNvPr id="13" name="loan-step-arrow-1">
            <a:extLst xmlns:a="http://schemas.openxmlformats.org/drawingml/2006/main">
              <a:ext uri="{FF2B5EF4-FFF2-40B4-BE49-F238E27FC236}">
                <a16:creationId xmlns:a16="http://schemas.microsoft.com/office/drawing/2014/main" id="{564964E2-DC4E-4FBF-B844-5E779C10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4" name="loan-step-2">
            <a:extLst xmlns:a="http://schemas.openxmlformats.org/drawingml/2006/main">
              <a:ext uri="{FF2B5EF4-FFF2-40B4-BE49-F238E27FC236}">
                <a16:creationId xmlns:a16="http://schemas.microsoft.com/office/drawing/2014/main" id="{9FA3A8FE-5ED4-4822-B5B7-82ACA8E5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28775"/>
            <a:ext cx="22669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5" name="loan-step-title-2">
            <a:extLst xmlns:a="http://schemas.openxmlformats.org/drawingml/2006/main">
              <a:ext uri="{FF2B5EF4-FFF2-40B4-BE49-F238E27FC236}">
                <a16:creationId xmlns:a16="http://schemas.microsoft.com/office/drawing/2014/main" id="{A191D6FA-9ED8-46DB-9C51-9A3C6B38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90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คืนล่าช้า</a:t>
            </a:r>
          </a:p>
        </p:txBody>
      </p:sp>
      <p:sp>
        <p:nvSpPr>
          <p:cNvPr id="16" name="loan-step-desc-2">
            <a:extLst xmlns:a="http://schemas.openxmlformats.org/drawingml/2006/main">
              <a:ext uri="{FF2B5EF4-FFF2-40B4-BE49-F238E27FC236}">
                <a16:creationId xmlns:a16="http://schemas.microsoft.com/office/drawing/2014/main" id="{55C688B1-2185-4D4C-B72F-5D9EB68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907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สร้าง fine ตาม MemberTier</a:t>
            </a:r>
          </a:p>
        </p:txBody>
      </p:sp>
      <p:sp>
        <p:nvSpPr>
          <p:cNvPr id="17" name="loan-step-arrow-2">
            <a:extLst xmlns:a="http://schemas.openxmlformats.org/drawingml/2006/main">
              <a:ext uri="{FF2B5EF4-FFF2-40B4-BE49-F238E27FC236}">
                <a16:creationId xmlns:a16="http://schemas.microsoft.com/office/drawing/2014/main" id="{E8E75780-DCF2-4224-B6AF-B181FDD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431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solidFill>
              <a:srgbClr val="078B88"/>
            </a:solidFill>
            <a:prstDash val="solid"/>
          </a:ln>
        </p:spPr>
      </p:sp>
      <p:sp>
        <p:nvSpPr>
          <p:cNvPr id="18" name="loan-step-3">
            <a:extLst xmlns:a="http://schemas.openxmlformats.org/drawingml/2006/main">
              <a:ext uri="{FF2B5EF4-FFF2-40B4-BE49-F238E27FC236}">
                <a16:creationId xmlns:a16="http://schemas.microsoft.com/office/drawing/2014/main" id="{05D7C488-04BC-4E06-A1D4-B6B8CB4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28775"/>
            <a:ext cx="22669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4DFE5"/>
            </a:solidFill>
            <a:prstDash val="solid"/>
          </a:ln>
        </p:spPr>
      </p:sp>
      <p:sp>
        <p:nvSpPr>
          <p:cNvPr id="19" name="loan-step-title-3">
            <a:extLst xmlns:a="http://schemas.openxmlformats.org/drawingml/2006/main">
              <a:ext uri="{FF2B5EF4-FFF2-40B4-BE49-F238E27FC236}">
                <a16:creationId xmlns:a16="http://schemas.microsoft.com/office/drawing/2014/main" id="{8C0C67D9-9CDD-469B-B40E-FB0ED8A2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8D5C0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8D5C00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8D5C00"/>
                </a:solidFill>
                <a:latin typeface="Tahoma"/>
                <a:ea typeface="Tahoma"/>
                <a:cs typeface="Tahoma"/>
              </a:rPr>
              <a:t>เกิน 60 วัน</a:t>
            </a:r>
          </a:p>
        </p:txBody>
      </p:sp>
      <p:sp>
        <p:nvSpPr>
          <p:cNvPr id="20" name="loan-step-desc-3">
            <a:extLst xmlns:a="http://schemas.openxmlformats.org/drawingml/2006/main">
              <a:ext uri="{FF2B5EF4-FFF2-40B4-BE49-F238E27FC236}">
                <a16:creationId xmlns:a16="http://schemas.microsoft.com/office/drawing/2014/main" id="{82519DF2-B8FC-4FA5-89AF-E3D0D32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เปลี่ยนเป็น LOST และเรียกเต็มราคา</a:t>
            </a:r>
          </a:p>
        </p:txBody>
      </p:sp>
      <p:sp>
        <p:nvSpPr>
          <p:cNvPr id="21" name="fine-heading">
            <a:extLst xmlns:a="http://schemas.openxmlformats.org/drawingml/2006/main">
              <a:ext uri="{FF2B5EF4-FFF2-40B4-BE49-F238E27FC236}">
                <a16:creationId xmlns:a16="http://schemas.microsoft.com/office/drawing/2014/main" id="{8DD99F9C-5992-47E1-A909-08BA3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อัตราค่าปรับเมื่อคืนช้า</a:t>
            </a:r>
          </a:p>
        </p:txBody>
      </p:sp>
      <p:sp>
        <p:nvSpPr>
          <p:cNvPr id="22" name="tier-mark-0">
            <a:extLst xmlns:a="http://schemas.openxmlformats.org/drawingml/2006/main">
              <a:ext uri="{FF2B5EF4-FFF2-40B4-BE49-F238E27FC236}">
                <a16:creationId xmlns:a16="http://schemas.microsoft.com/office/drawing/2014/main" id="{672875AD-33B3-49B1-9FA4-FCC2765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er-name-0">
            <a:extLst xmlns:a="http://schemas.openxmlformats.org/drawingml/2006/main">
              <a:ext uri="{FF2B5EF4-FFF2-40B4-BE49-F238E27FC236}">
                <a16:creationId xmlns:a16="http://schemas.microsoft.com/office/drawing/2014/main" id="{055628E9-0A5D-49A8-91C2-DED1920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37887"/>
                </a:solidFill>
                <a:latin typeface="Tahoma"/>
                <a:ea typeface="Tahoma"/>
                <a:cs typeface="Tahoma"/>
              </a:rPr>
              <a:t>STUDENT</a:t>
            </a:r>
          </a:p>
        </p:txBody>
      </p:sp>
      <p:sp>
        <p:nvSpPr>
          <p:cNvPr id="24" name="tier-rate-0">
            <a:extLst xmlns:a="http://schemas.openxmlformats.org/drawingml/2006/main">
              <a:ext uri="{FF2B5EF4-FFF2-40B4-BE49-F238E27FC236}">
                <a16:creationId xmlns:a16="http://schemas.microsoft.com/office/drawing/2014/main" id="{09853CED-936F-4CB4-B583-A89C610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3 บาท / วัน</a:t>
            </a:r>
          </a:p>
        </p:txBody>
      </p:sp>
      <p:sp>
        <p:nvSpPr>
          <p:cNvPr id="25" name="tier-mark-1">
            <a:extLst xmlns:a="http://schemas.openxmlformats.org/drawingml/2006/main">
              <a:ext uri="{FF2B5EF4-FFF2-40B4-BE49-F238E27FC236}">
                <a16:creationId xmlns:a16="http://schemas.microsoft.com/office/drawing/2014/main" id="{B58FF3EC-A1AB-4F19-BA40-7AA7CA2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76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ier-name-1">
            <a:extLst xmlns:a="http://schemas.openxmlformats.org/drawingml/2006/main">
              <a:ext uri="{FF2B5EF4-FFF2-40B4-BE49-F238E27FC236}">
                <a16:creationId xmlns:a16="http://schemas.microsoft.com/office/drawing/2014/main" id="{623584B9-7EEF-4B37-AC3B-B464BC45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37887"/>
                </a:solidFill>
                <a:latin typeface="Tahoma"/>
                <a:ea typeface="Tahoma"/>
                <a:cs typeface="Tahoma"/>
              </a:rPr>
              <a:t>STAFF</a:t>
            </a:r>
          </a:p>
        </p:txBody>
      </p:sp>
      <p:sp>
        <p:nvSpPr>
          <p:cNvPr id="27" name="tier-rate-1">
            <a:extLst xmlns:a="http://schemas.openxmlformats.org/drawingml/2006/main">
              <a:ext uri="{FF2B5EF4-FFF2-40B4-BE49-F238E27FC236}">
                <a16:creationId xmlns:a16="http://schemas.microsoft.com/office/drawing/2014/main" id="{83863D8B-B5C1-41F1-BC26-EFAD5E7C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814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5 บาท / วัน</a:t>
            </a:r>
          </a:p>
        </p:txBody>
      </p:sp>
      <p:sp>
        <p:nvSpPr>
          <p:cNvPr id="28" name="tier-mark-2">
            <a:extLst xmlns:a="http://schemas.openxmlformats.org/drawingml/2006/main">
              <a:ext uri="{FF2B5EF4-FFF2-40B4-BE49-F238E27FC236}">
                <a16:creationId xmlns:a16="http://schemas.microsoft.com/office/drawing/2014/main" id="{0B734E67-95BA-4D25-A9D9-27EBB52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76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er-name-2">
            <a:extLst xmlns:a="http://schemas.openxmlformats.org/drawingml/2006/main">
              <a:ext uri="{FF2B5EF4-FFF2-40B4-BE49-F238E27FC236}">
                <a16:creationId xmlns:a16="http://schemas.microsoft.com/office/drawing/2014/main" id="{C24E15F5-9CF5-432B-A31D-F2C7E3B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37887"/>
                </a:solidFill>
                <a:latin typeface="Tahoma"/>
                <a:ea typeface="Tahoma"/>
                <a:cs typeface="Tahoma"/>
              </a:rPr>
              <a:t>EXTERNAL</a:t>
            </a:r>
          </a:p>
        </p:txBody>
      </p:sp>
      <p:sp>
        <p:nvSpPr>
          <p:cNvPr id="30" name="tier-rate-2">
            <a:extLst xmlns:a="http://schemas.openxmlformats.org/drawingml/2006/main">
              <a:ext uri="{FF2B5EF4-FFF2-40B4-BE49-F238E27FC236}">
                <a16:creationId xmlns:a16="http://schemas.microsoft.com/office/drawing/2014/main" id="{BCB8F8E3-6ED3-47B3-BC15-96861B7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814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E303D"/>
                </a:solidFill>
                <a:latin typeface="Tahoma"/>
                <a:ea typeface="Tahoma"/>
                <a:cs typeface="Tahoma"/>
              </a:rPr>
              <a:t>10 บาท / วัน</a:t>
            </a:r>
          </a:p>
        </p:txBody>
      </p:sp>
      <p:sp>
        <p:nvSpPr>
          <p:cNvPr id="31" name="staff-cap">
            <a:extLst xmlns:a="http://schemas.openxmlformats.org/drawingml/2006/main">
              <a:ext uri="{FF2B5EF4-FFF2-40B4-BE49-F238E27FC236}">
                <a16:creationId xmlns:a16="http://schemas.microsoft.com/office/drawing/2014/main" id="{9D9E6DB3-DF75-43D5-91C4-600749B4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STAFF จำกัดสูงสุด 300 บาท</a:t>
            </a:r>
          </a:p>
        </p:txBody>
      </p:sp>
      <p:sp>
        <p:nvSpPr>
          <p:cNvPr id="32" name="fine-divider">
            <a:extLst xmlns:a="http://schemas.openxmlformats.org/drawingml/2006/main">
              <a:ext uri="{FF2B5EF4-FFF2-40B4-BE49-F238E27FC236}">
                <a16:creationId xmlns:a16="http://schemas.microsoft.com/office/drawing/2014/main" id="{E6E97D7F-5E2D-4249-AC55-C5A636A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bserver-heading">
            <a:extLst xmlns:a="http://schemas.openxmlformats.org/drawingml/2006/main">
              <a:ext uri="{FF2B5EF4-FFF2-40B4-BE49-F238E27FC236}">
                <a16:creationId xmlns:a16="http://schemas.microsoft.com/office/drawing/2014/main" id="{1160C767-A94E-4871-B564-7E93F99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คิวจองหลังคืนหนังสือ</a:t>
            </a:r>
          </a:p>
        </p:txBody>
      </p:sp>
      <p:sp>
        <p:nvSpPr>
          <p:cNvPr id="34" name="observer-flow">
            <a:extLst xmlns:a="http://schemas.openxmlformats.org/drawingml/2006/main">
              <a:ext uri="{FF2B5EF4-FFF2-40B4-BE49-F238E27FC236}">
                <a16:creationId xmlns:a16="http://schemas.microsoft.com/office/drawing/2014/main" id="{A632797C-0F0D-4E0F-91A3-F0D8FA3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57625"/>
            <a:ext cx="4057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BookReturnedEvent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→ listener หลัง commit ผูก copy จริงกับคิว WAITING แรกสุด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→ Reservation = READY; BookCopy = RESERVED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→ เจ้าของคิวเท่านั้นยืมได้ใน 48 ชม.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→ ยกเลิก/หมดเวลา: คืน copy และส่งต่อคิว</a:t>
            </a:r>
          </a:p>
        </p:txBody>
      </p:sp>
      <p:sp>
        <p:nvSpPr>
          <p:cNvPr id="35" name="lost-note">
            <a:extLst xmlns:a="http://schemas.openxmlformats.org/drawingml/2006/main">
              <a:ext uri="{FF2B5EF4-FFF2-40B4-BE49-F238E27FC236}">
                <a16:creationId xmlns:a16="http://schemas.microsoft.com/office/drawing/2014/main" id="{1A939036-3922-498A-8310-A07AC50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19725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ost-note-text">
            <a:extLst xmlns:a="http://schemas.openxmlformats.org/drawingml/2006/main">
              <a:ext uri="{FF2B5EF4-FFF2-40B4-BE49-F238E27FC236}">
                <a16:creationId xmlns:a16="http://schemas.microsoft.com/office/drawing/2014/main" id="{4B8E93AE-195D-4864-9B17-93DB9AE4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495925"/>
            <a:ext cx="1023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E3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1E303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1E303D"/>
                </a:solidFill>
                <a:latin typeface="Tahoma"/>
                <a:ea typeface="Tahoma"/>
                <a:cs typeface="Tahoma"/>
              </a:rPr>
              <a:t>LOST คิดค่าชดใช้เท่าราคาหนังสือเต็มจำนวน; หากไม่มีราคาหรือราคาไม่ถูกต้อง scheduler จะ rollback เพื่อให้แก้ข้อมูลก่อน</a:t>
            </a:r>
          </a:p>
        </p:txBody>
      </p:sp>
    </p:spTree>
    <p:extLst>
      <p:ext uri="{BB962C8B-B14F-4D97-AF65-F5344CB8AC3E}">
        <p14:creationId xmlns:p14="http://schemas.microsoft.com/office/powerpoint/2010/main" val="2145586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BEE79DAC-AF5D-47B1-A87C-B7C3ED01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9A2C73B-40AA-4C21-9B5E-B93D5613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ผลตรวจระบบ ณ 8 ตุลาคม 2569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5277A15A-2D10-4C2C-BCD7-6556572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C4A8906C-9232-4095-AD8D-9FC120C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EB2CCEE8-40E3-47ED-A8AE-B8121F5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07 / 08</a:t>
            </a:r>
          </a:p>
        </p:txBody>
      </p:sp>
      <p:sp>
        <p:nvSpPr>
          <p:cNvPr id="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9A9EDE3-FFB6-41EF-A3FC-9106623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525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078B88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078B88"/>
                </a:solidFill>
                <a:latin typeface="Tahoma"/>
                <a:ea typeface="Tahoma"/>
                <a:cs typeface="Tahoma"/>
              </a:rPr>
              <a:t>133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BCB5F13-1E4F-479D-A262-109BAF9C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12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8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Backend unit / API tests</a:t>
            </a:r>
          </a:p>
        </p:txBody>
      </p:sp>
      <p:sp>
        <p:nvSpPr>
          <p:cNvPr id="8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0A603816-2332-44D0-BF59-2DFE07A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ผ่าน 133  •  ไม่รวม integration test</a:t>
            </a:r>
          </a:p>
        </p:txBody>
      </p:sp>
      <p:sp>
        <p:nvSpPr>
          <p:cNvPr id="9" name="metric-divider-0">
            <a:extLst xmlns:a="http://schemas.openxmlformats.org/drawingml/2006/main">
              <a:ext uri="{FF2B5EF4-FFF2-40B4-BE49-F238E27FC236}">
                <a16:creationId xmlns:a16="http://schemas.microsoft.com/office/drawing/2014/main" id="{A099C0F5-4C80-45AA-9E0E-3BFD019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28775"/>
            <a:ext cx="95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0AC3A55-33D1-4103-A9C8-E6A9D963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525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277B6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277B68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277B68"/>
                </a:solidFill>
                <a:latin typeface="Tahoma"/>
                <a:ea typeface="Tahoma"/>
                <a:cs typeface="Tahoma"/>
              </a:rPr>
              <a:t>ผ่าน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99C4115-F462-4197-AE90-E78948F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Frontend quality</a:t>
            </a:r>
          </a:p>
        </p:txBody>
      </p:sp>
      <p:sp>
        <p:nvSpPr>
          <p:cNvPr id="12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1797842D-4758-4D09-9D12-2009A48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28925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lint และ production build</a:t>
            </a:r>
          </a:p>
        </p:txBody>
      </p:sp>
      <p:sp>
        <p:nvSpPr>
          <p:cNvPr id="13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003F1C1D-A53F-4BD2-8AB7-520CF44A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28775"/>
            <a:ext cx="95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9C0EEA0-F5C1-4CBA-A743-110579E6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277B6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277B68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277B68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09438F0-A1A8-48FB-80CB-9D3647B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npm audit</a:t>
            </a:r>
          </a:p>
        </p:txBody>
      </p:sp>
      <p:sp>
        <p:nvSpPr>
          <p:cNvPr id="16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9B7215B2-306E-4339-95DA-8A8778C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28925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vulnerabilities ระดับ high ขึ้นไป</a:t>
            </a:r>
          </a:p>
        </p:txBody>
      </p:sp>
      <p:sp>
        <p:nvSpPr>
          <p:cNvPr id="17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1E048960-6412-4331-8CE2-7122B32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628775"/>
            <a:ext cx="95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B2C4A7E3-3878-450E-8972-2D413B49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525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234B6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234B63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234B63"/>
                </a:solidFill>
                <a:latin typeface="Tahoma"/>
                <a:ea typeface="Tahoma"/>
                <a:cs typeface="Tahoma"/>
              </a:rPr>
              <a:t>200</a:t>
            </a:r>
          </a:p>
        </p:txBody>
      </p:sp>
      <p:sp>
        <p:nvSpPr>
          <p:cNvPr id="19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67F65846-9149-40F4-B5F9-4EE7570C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Public URL checks</a:t>
            </a:r>
          </a:p>
        </p:txBody>
      </p:sp>
      <p:sp>
        <p:nvSpPr>
          <p:cNvPr id="20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00374C4B-2726-4861-A2F3-D55340E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28925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Vercel • Swagger • OpenAPI • GET books</a:t>
            </a:r>
          </a:p>
        </p:txBody>
      </p:sp>
      <p:sp>
        <p:nvSpPr>
          <p:cNvPr id="21" name="validation-rule">
            <a:extLst xmlns:a="http://schemas.openxmlformats.org/drawingml/2006/main">
              <a:ext uri="{FF2B5EF4-FFF2-40B4-BE49-F238E27FC236}">
                <a16:creationId xmlns:a16="http://schemas.microsoft.com/office/drawing/2014/main" id="{542E7CEC-2BF2-4164-BE73-9A5372D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idation-caveat-title">
            <a:extLst xmlns:a="http://schemas.openxmlformats.org/drawingml/2006/main">
              <a:ext uri="{FF2B5EF4-FFF2-40B4-BE49-F238E27FC236}">
                <a16:creationId xmlns:a16="http://schemas.microsoft.com/office/drawing/2014/main" id="{36DE6245-BB7F-484F-8978-4A1B7AA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ข้อจำกัดของรอบทดสอบ</a:t>
            </a:r>
          </a:p>
        </p:txBody>
      </p:sp>
      <p:sp>
        <p:nvSpPr>
          <p:cNvPr id="23" name="validation-caveat">
            <a:extLst xmlns:a="http://schemas.openxmlformats.org/drawingml/2006/main">
              <a:ext uri="{FF2B5EF4-FFF2-40B4-BE49-F238E27FC236}">
                <a16:creationId xmlns:a16="http://schemas.microsoft.com/office/drawing/2014/main" id="{B46A62A3-7508-4089-83CE-6304E8A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9577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AuthSecurityIntegrationTest ต้องใช้ Docker/Testcontainers แต่เครื่องนี้ไม่มี Docker Engine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จึงยังยืนยัน integration test และ Flyway V8/V9 บน PostgreSQL จริงไม่ได้</a:t>
            </a:r>
          </a:p>
        </p:txBody>
      </p:sp>
      <p:sp>
        <p:nvSpPr>
          <p:cNvPr id="24" name="deployment-caveat-title">
            <a:extLst xmlns:a="http://schemas.openxmlformats.org/drawingml/2006/main">
              <a:ext uri="{FF2B5EF4-FFF2-40B4-BE49-F238E27FC236}">
                <a16:creationId xmlns:a16="http://schemas.microsoft.com/office/drawing/2014/main" id="{9B825347-9AFF-49A3-83A2-B119032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สิ่งที่ URL สาธารณะยังยืนยันไม่ได้</a:t>
            </a:r>
          </a:p>
        </p:txBody>
      </p:sp>
      <p:sp>
        <p:nvSpPr>
          <p:cNvPr id="25" name="deployment-caveat">
            <a:extLst xmlns:a="http://schemas.openxmlformats.org/drawingml/2006/main">
              <a:ext uri="{FF2B5EF4-FFF2-40B4-BE49-F238E27FC236}">
                <a16:creationId xmlns:a16="http://schemas.microsoft.com/office/drawing/2014/main" id="{ABA08A54-3A70-4EB6-9BC7-C415E636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957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HTTP 200 ยืนยันว่า service ตอบสนอง แต่ไม่เปิดเผย Git branch ที่ deploy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หรือ Neon branch ที่เลือกผ่าน DB_URL</a:t>
            </a:r>
          </a:p>
        </p:txBody>
      </p:sp>
      <p:sp>
        <p:nvSpPr>
          <p:cNvPr id="26" name="verification-command">
            <a:extLst xmlns:a="http://schemas.openxmlformats.org/drawingml/2006/main">
              <a:ext uri="{FF2B5EF4-FFF2-40B4-BE49-F238E27FC236}">
                <a16:creationId xmlns:a16="http://schemas.microsoft.com/office/drawing/2014/main" id="{6E997403-0253-47F0-AE7D-65F00F8B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34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verification-command-text">
            <a:extLst xmlns:a="http://schemas.openxmlformats.org/drawingml/2006/main">
              <a:ext uri="{FF2B5EF4-FFF2-40B4-BE49-F238E27FC236}">
                <a16:creationId xmlns:a16="http://schemas.microsoft.com/office/drawing/2014/main" id="{EFFA055F-DFC1-4FD6-AEAF-6E9E4ABB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10144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รัน full verification เมื่อ Docker เปิด:  .\mvnw.cmd clean verify</a:t>
            </a:r>
          </a:p>
        </p:txBody>
      </p:sp>
    </p:spTree>
    <p:extLst>
      <p:ext uri="{BB962C8B-B14F-4D97-AF65-F5344CB8AC3E}">
        <p14:creationId xmlns:p14="http://schemas.microsoft.com/office/powerpoint/2010/main" val="1414987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568E8493-5301-445F-BDB7-2034E25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089FDD5-B6A0-417F-A5F8-E88F312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แนวทาง release และจุดที่ต้องยืนยัน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E3BF092B-B524-49D0-81E2-6E5C692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0493EDC-8952-4983-86F3-25F2798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LibraFlow  •  CP353002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5980DAC0-08E6-40ED-9B63-A04A493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050" b="0">
                <a:solidFill>
                  <a:srgbClr val="63788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37887"/>
                </a:solidFill>
                <a:latin typeface="Tahoma"/>
                <a:ea typeface="Tahoma"/>
                <a:cs typeface="Tahoma"/>
              </a:rPr>
              <a:t>08 / 08</a:t>
            </a:r>
          </a:p>
        </p:txBody>
      </p:sp>
      <p:sp>
        <p:nvSpPr>
          <p:cNvPr id="6" name="release-step-0">
            <a:extLst xmlns:a="http://schemas.openxmlformats.org/drawingml/2006/main">
              <a:ext uri="{FF2B5EF4-FFF2-40B4-BE49-F238E27FC236}">
                <a16:creationId xmlns:a16="http://schemas.microsoft.com/office/drawing/2014/main" id="{1F2C830B-DFFF-4A46-80FB-A593ACC4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B88"/>
            </a:solidFill>
            <a:prstDash val="solid"/>
          </a:ln>
        </p:spPr>
      </p:sp>
      <p:sp>
        <p:nvSpPr>
          <p:cNvPr id="7" name="release-head-0">
            <a:extLst xmlns:a="http://schemas.openxmlformats.org/drawingml/2006/main">
              <a:ext uri="{FF2B5EF4-FFF2-40B4-BE49-F238E27FC236}">
                <a16:creationId xmlns:a16="http://schemas.microsoft.com/office/drawing/2014/main" id="{D25E9B85-D1A8-4C78-9E8A-1FC578CA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Branch สมาชิก</a:t>
            </a:r>
          </a:p>
        </p:txBody>
      </p:sp>
      <p:sp>
        <p:nvSpPr>
          <p:cNvPr id="8" name="release-body-0">
            <a:extLst xmlns:a="http://schemas.openxmlformats.org/drawingml/2006/main">
              <a:ext uri="{FF2B5EF4-FFF2-40B4-BE49-F238E27FC236}">
                <a16:creationId xmlns:a16="http://schemas.microsoft.com/office/drawing/2014/main" id="{7DA76E2C-1BB2-4733-B01A-FE213171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ชื่อ_รหัส_Section</a:t>
            </a:r>
          </a:p>
        </p:txBody>
      </p:sp>
      <p:sp>
        <p:nvSpPr>
          <p:cNvPr id="9" name="release-arrow-0">
            <a:extLst xmlns:a="http://schemas.openxmlformats.org/drawingml/2006/main">
              <a:ext uri="{FF2B5EF4-FFF2-40B4-BE49-F238E27FC236}">
                <a16:creationId xmlns:a16="http://schemas.microsoft.com/office/drawing/2014/main" id="{859301B3-5347-4345-A378-850CA71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002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solidFill>
              <a:srgbClr val="E1A947"/>
            </a:solidFill>
            <a:prstDash val="solid"/>
          </a:ln>
        </p:spPr>
      </p:sp>
      <p:sp>
        <p:nvSpPr>
          <p:cNvPr id="10" name="release-step-1">
            <a:extLst xmlns:a="http://schemas.openxmlformats.org/drawingml/2006/main">
              <a:ext uri="{FF2B5EF4-FFF2-40B4-BE49-F238E27FC236}">
                <a16:creationId xmlns:a16="http://schemas.microsoft.com/office/drawing/2014/main" id="{694A9168-5794-4EF5-98F7-E643713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33525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B88"/>
            </a:solidFill>
            <a:prstDash val="solid"/>
          </a:ln>
        </p:spPr>
      </p:sp>
      <p:sp>
        <p:nvSpPr>
          <p:cNvPr id="11" name="release-head-1">
            <a:extLst xmlns:a="http://schemas.openxmlformats.org/drawingml/2006/main">
              <a:ext uri="{FF2B5EF4-FFF2-40B4-BE49-F238E27FC236}">
                <a16:creationId xmlns:a16="http://schemas.microsoft.com/office/drawing/2014/main" id="{5F972C33-D6C1-4D04-A5DB-6E1CEE0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5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Pull Request</a:t>
            </a:r>
          </a:p>
        </p:txBody>
      </p:sp>
      <p:sp>
        <p:nvSpPr>
          <p:cNvPr id="12" name="release-body-1">
            <a:extLst xmlns:a="http://schemas.openxmlformats.org/drawingml/2006/main">
              <a:ext uri="{FF2B5EF4-FFF2-40B4-BE49-F238E27FC236}">
                <a16:creationId xmlns:a16="http://schemas.microsoft.com/office/drawing/2014/main" id="{7C8AA6A5-6FA4-4BDD-9925-FB382F3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เข้า develop</a:t>
            </a:r>
          </a:p>
        </p:txBody>
      </p:sp>
      <p:sp>
        <p:nvSpPr>
          <p:cNvPr id="13" name="release-arrow-1">
            <a:extLst xmlns:a="http://schemas.openxmlformats.org/drawingml/2006/main">
              <a:ext uri="{FF2B5EF4-FFF2-40B4-BE49-F238E27FC236}">
                <a16:creationId xmlns:a16="http://schemas.microsoft.com/office/drawing/2014/main" id="{410123F5-E350-4EAA-A491-3EBF5833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02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solidFill>
              <a:srgbClr val="E1A947"/>
            </a:solidFill>
            <a:prstDash val="solid"/>
          </a:ln>
        </p:spPr>
      </p:sp>
      <p:sp>
        <p:nvSpPr>
          <p:cNvPr id="14" name="release-step-2">
            <a:extLst xmlns:a="http://schemas.openxmlformats.org/drawingml/2006/main">
              <a:ext uri="{FF2B5EF4-FFF2-40B4-BE49-F238E27FC236}">
                <a16:creationId xmlns:a16="http://schemas.microsoft.com/office/drawing/2014/main" id="{922888CD-513F-4C21-95F1-2BF0A6E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33525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B88"/>
            </a:solidFill>
            <a:prstDash val="solid"/>
          </a:ln>
        </p:spPr>
      </p:sp>
      <p:sp>
        <p:nvSpPr>
          <p:cNvPr id="15" name="release-head-2">
            <a:extLst xmlns:a="http://schemas.openxmlformats.org/drawingml/2006/main">
              <a:ext uri="{FF2B5EF4-FFF2-40B4-BE49-F238E27FC236}">
                <a16:creationId xmlns:a16="http://schemas.microsoft.com/office/drawing/2014/main" id="{266B6FD2-10FC-4AEA-8522-ACC5D46C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ตรวจรวม</a:t>
            </a:r>
          </a:p>
        </p:txBody>
      </p:sp>
      <p:sp>
        <p:nvSpPr>
          <p:cNvPr id="16" name="release-body-2">
            <a:extLst xmlns:a="http://schemas.openxmlformats.org/drawingml/2006/main">
              <a:ext uri="{FF2B5EF4-FFF2-40B4-BE49-F238E27FC236}">
                <a16:creationId xmlns:a16="http://schemas.microsoft.com/office/drawing/2014/main" id="{EEC5E2BF-0BD9-43ED-8661-0EBB981A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CI + teammate review</a:t>
            </a:r>
          </a:p>
        </p:txBody>
      </p:sp>
      <p:sp>
        <p:nvSpPr>
          <p:cNvPr id="17" name="release-arrow-2">
            <a:extLst xmlns:a="http://schemas.openxmlformats.org/drawingml/2006/main">
              <a:ext uri="{FF2B5EF4-FFF2-40B4-BE49-F238E27FC236}">
                <a16:creationId xmlns:a16="http://schemas.microsoft.com/office/drawing/2014/main" id="{CCFEABBD-9A64-4ED0-8FE1-88AA4ED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002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solidFill>
              <a:srgbClr val="E1A947"/>
            </a:solidFill>
            <a:prstDash val="solid"/>
          </a:ln>
        </p:spPr>
      </p:sp>
      <p:sp>
        <p:nvSpPr>
          <p:cNvPr id="18" name="release-step-3">
            <a:extLst xmlns:a="http://schemas.openxmlformats.org/drawingml/2006/main">
              <a:ext uri="{FF2B5EF4-FFF2-40B4-BE49-F238E27FC236}">
                <a16:creationId xmlns:a16="http://schemas.microsoft.com/office/drawing/2014/main" id="{93F2C57B-9D6D-4D7B-8F17-B461807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33525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B88"/>
            </a:solidFill>
            <a:prstDash val="solid"/>
          </a:ln>
        </p:spPr>
      </p:sp>
      <p:sp>
        <p:nvSpPr>
          <p:cNvPr id="19" name="release-head-3">
            <a:extLst xmlns:a="http://schemas.openxmlformats.org/drawingml/2006/main">
              <a:ext uri="{FF2B5EF4-FFF2-40B4-BE49-F238E27FC236}">
                <a16:creationId xmlns:a16="http://schemas.microsoft.com/office/drawing/2014/main" id="{6F9B2728-F333-473C-8128-2FD9CA36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Release</a:t>
            </a:r>
          </a:p>
        </p:txBody>
      </p:sp>
      <p:sp>
        <p:nvSpPr>
          <p:cNvPr id="20" name="release-body-3">
            <a:extLst xmlns:a="http://schemas.openxmlformats.org/drawingml/2006/main">
              <a:ext uri="{FF2B5EF4-FFF2-40B4-BE49-F238E27FC236}">
                <a16:creationId xmlns:a16="http://schemas.microsoft.com/office/drawing/2014/main" id="{85907570-7302-4AED-9337-21C2AD4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526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develop → main</a:t>
            </a:r>
          </a:p>
        </p:txBody>
      </p:sp>
      <p:sp>
        <p:nvSpPr>
          <p:cNvPr id="21" name="release-arrow-3">
            <a:extLst xmlns:a="http://schemas.openxmlformats.org/drawingml/2006/main">
              <a:ext uri="{FF2B5EF4-FFF2-40B4-BE49-F238E27FC236}">
                <a16:creationId xmlns:a16="http://schemas.microsoft.com/office/drawing/2014/main" id="{E4BEE107-14FA-4266-A175-5426215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002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A947"/>
          </a:solidFill>
          <a:ln xmlns:a="http://schemas.openxmlformats.org/drawingml/2006/main" w="0">
            <a:solidFill>
              <a:srgbClr val="E1A947"/>
            </a:solidFill>
            <a:prstDash val="solid"/>
          </a:ln>
        </p:spPr>
      </p:sp>
      <p:sp>
        <p:nvSpPr>
          <p:cNvPr id="22" name="release-step-4">
            <a:extLst xmlns:a="http://schemas.openxmlformats.org/drawingml/2006/main">
              <a:ext uri="{FF2B5EF4-FFF2-40B4-BE49-F238E27FC236}">
                <a16:creationId xmlns:a16="http://schemas.microsoft.com/office/drawing/2014/main" id="{AD29F720-1624-4457-A960-EE6EB3F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33525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19050">
            <a:solidFill>
              <a:srgbClr val="14324A"/>
            </a:solidFill>
            <a:prstDash val="solid"/>
          </a:ln>
        </p:spPr>
      </p:sp>
      <p:sp>
        <p:nvSpPr>
          <p:cNvPr id="23" name="release-head-4">
            <a:extLst xmlns:a="http://schemas.openxmlformats.org/drawingml/2006/main">
              <a:ext uri="{FF2B5EF4-FFF2-40B4-BE49-F238E27FC236}">
                <a16:creationId xmlns:a16="http://schemas.microsoft.com/office/drawing/2014/main" id="{391CD2DE-0F9C-4586-AF17-C9EBF3B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5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Production</a:t>
            </a:r>
          </a:p>
        </p:txBody>
      </p:sp>
      <p:sp>
        <p:nvSpPr>
          <p:cNvPr id="24" name="release-body-4">
            <a:extLst xmlns:a="http://schemas.openxmlformats.org/drawingml/2006/main">
              <a:ext uri="{FF2B5EF4-FFF2-40B4-BE49-F238E27FC236}">
                <a16:creationId xmlns:a16="http://schemas.microsoft.com/office/drawing/2014/main" id="{D013D030-8E8C-499D-A68C-0BC25ED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526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D5E6E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D5E6EA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D5E6EA"/>
                </a:solidFill>
                <a:latin typeface="Tahoma"/>
                <a:ea typeface="Tahoma"/>
                <a:cs typeface="Tahoma"/>
              </a:rPr>
              <a:t>Render / Vercel</a:t>
            </a:r>
          </a:p>
        </p:txBody>
      </p:sp>
      <p:sp>
        <p:nvSpPr>
          <p:cNvPr id="25" name="deploy-notes-title">
            <a:extLst xmlns:a="http://schemas.openxmlformats.org/drawingml/2006/main">
              <a:ext uri="{FF2B5EF4-FFF2-40B4-BE49-F238E27FC236}">
                <a16:creationId xmlns:a16="http://schemas.microsoft.com/office/drawing/2014/main" id="{2C99B936-73A3-4CF6-9E45-BCD0058C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สถานะ deployment ที่ตรวจได้</a:t>
            </a:r>
          </a:p>
        </p:txBody>
      </p:sp>
      <p:sp>
        <p:nvSpPr>
          <p:cNvPr id="26" name="deploy-notes">
            <a:extLst xmlns:a="http://schemas.openxmlformats.org/drawingml/2006/main">
              <a:ext uri="{FF2B5EF4-FFF2-40B4-BE49-F238E27FC236}">
                <a16:creationId xmlns:a16="http://schemas.microsoft.com/office/drawing/2014/main" id="{79BD01B1-8068-4DA6-9DFF-2D2AB1A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5372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• Neon screenshot แสดง branch ชื่อ production และ database libraflow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• Render URL และ Swagger ใช้งานได้; dashboard settings ยังไม่ยืนยัน branch deploy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• ต้องเทียบ host/database ใน Render DB_URL กับ Neon branch ที่ต้องการ</a:t>
            </a:r>
          </a:p>
        </p:txBody>
      </p:sp>
      <p:sp>
        <p:nvSpPr>
          <p:cNvPr id="27" name="deploy-divider">
            <a:extLst xmlns:a="http://schemas.openxmlformats.org/drawingml/2006/main">
              <a:ext uri="{FF2B5EF4-FFF2-40B4-BE49-F238E27FC236}">
                <a16:creationId xmlns:a16="http://schemas.microsoft.com/office/drawing/2014/main" id="{0F6ED923-C254-4DF3-81EE-40F7170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ext-steps-title">
            <a:extLst xmlns:a="http://schemas.openxmlformats.org/drawingml/2006/main">
              <a:ext uri="{FF2B5EF4-FFF2-40B4-BE49-F238E27FC236}">
                <a16:creationId xmlns:a16="http://schemas.microsoft.com/office/drawing/2014/main" id="{68606928-B5A3-4D93-B199-16801A6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194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432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4324A"/>
                </a:solidFill>
                <a:latin typeface="Tahoma"/>
                <a:ea typeface="Tahoma"/>
                <a:cs typeface="Tahoma"/>
              </a:rPr>
              <a:t>ก่อนปล่อย main</a:t>
            </a:r>
          </a:p>
        </p:txBody>
      </p:sp>
      <p:sp>
        <p:nvSpPr>
          <p:cNvPr id="29" name="next-step-0">
            <a:extLst xmlns:a="http://schemas.openxmlformats.org/drawingml/2006/main">
              <a:ext uri="{FF2B5EF4-FFF2-40B4-BE49-F238E27FC236}">
                <a16:creationId xmlns:a16="http://schemas.microsoft.com/office/drawing/2014/main" id="{856914D8-998B-4FF2-A317-499DC733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1. เปิด Docker แล้วรัน clean verify ให้ครบ</a:t>
            </a:r>
          </a:p>
        </p:txBody>
      </p:sp>
      <p:sp>
        <p:nvSpPr>
          <p:cNvPr id="30" name="next-step-1">
            <a:extLst xmlns:a="http://schemas.openxmlformats.org/drawingml/2006/main">
              <a:ext uri="{FF2B5EF4-FFF2-40B4-BE49-F238E27FC236}">
                <a16:creationId xmlns:a16="http://schemas.microsoft.com/office/drawing/2014/main" id="{920F35D1-C4C8-4CCE-90C9-2DA1AA1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2. ตรวจ Render branch = main และ Root Directory</a:t>
            </a:r>
          </a:p>
        </p:txBody>
      </p:sp>
      <p:sp>
        <p:nvSpPr>
          <p:cNvPr id="31" name="next-step-2">
            <a:extLst xmlns:a="http://schemas.openxmlformats.org/drawingml/2006/main">
              <a:ext uri="{FF2B5EF4-FFF2-40B4-BE49-F238E27FC236}">
                <a16:creationId xmlns:a16="http://schemas.microsoft.com/office/drawing/2014/main" id="{F57559F0-5797-4ED4-B82D-6D22EB0A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3. ตรวจ DB_URL โดยปิดบัง credential แล้วเทียบ Neon</a:t>
            </a:r>
          </a:p>
        </p:txBody>
      </p:sp>
      <p:sp>
        <p:nvSpPr>
          <p:cNvPr id="32" name="next-step-3">
            <a:extLst xmlns:a="http://schemas.openxmlformats.org/drawingml/2006/main">
              <a:ext uri="{FF2B5EF4-FFF2-40B4-BE49-F238E27FC236}">
                <a16:creationId xmlns:a16="http://schemas.microsoft.com/office/drawing/2014/main" id="{D0C50A08-32F5-4F70-8DBD-1FCF386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44B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344B59"/>
                </a:solidFill>
                <a:latin typeface="Tahoma"/>
                <a:ea typeface="Tahoma"/>
                <a:cs typeface="Tahoma"/>
              </a:rPr>
              <a:t>4. ทดสอบ V8/V9 บน staging ก่อน production</a:t>
            </a:r>
          </a:p>
        </p:txBody>
      </p:sp>
      <p:sp>
        <p:nvSpPr>
          <p:cNvPr id="33" name="secret-callout">
            <a:extLst xmlns:a="http://schemas.openxmlformats.org/drawingml/2006/main">
              <a:ext uri="{FF2B5EF4-FFF2-40B4-BE49-F238E27FC236}">
                <a16:creationId xmlns:a16="http://schemas.microsoft.com/office/drawing/2014/main" id="{8E0DC519-0637-4D7A-94CA-2F5FAE3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C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cret-callout-text">
            <a:extLst xmlns:a="http://schemas.openxmlformats.org/drawingml/2006/main">
              <a:ext uri="{FF2B5EF4-FFF2-40B4-BE49-F238E27FC236}">
                <a16:creationId xmlns:a16="http://schemas.microsoft.com/office/drawing/2014/main" id="{F23BF94B-80E9-4C63-9487-DA85B64F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9E3D3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9E3D36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9E3D36"/>
                </a:solidFill>
                <a:latin typeface="Tahoma"/>
                <a:ea typeface="Tahoma"/>
                <a:cs typeface="Tahoma"/>
              </a:rPr>
              <a:t>อย่าแชร์ DB_URL เต็ม, รหัสผ่าน หรือ JWT_SECRET; ภาพหน้าจอให้ปิดค่าลับไว้</a:t>
            </a:r>
          </a:p>
        </p:txBody>
      </p:sp>
    </p:spTree>
    <p:extLst>
      <p:ext uri="{BB962C8B-B14F-4D97-AF65-F5344CB8AC3E}">
        <p14:creationId xmlns:p14="http://schemas.microsoft.com/office/powerpoint/2010/main" val="1472599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2026-10-08T15:47:17.1840000Z</dcterms:created>
  <dcterms:modified xsi:type="dcterms:W3CDTF">2026-10-08T15:47:17.1850000Z</dcterms:modified>
</coreProperties>
</file>